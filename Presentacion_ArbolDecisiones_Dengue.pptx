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Hola, somos Breyner, Johan y Yariangel. Vamos a presentar nuestro árbol de decisiones para clasificar la severidad del dengue en Bucaramanga, como segunda entrega del reto de Inteligencia Artificial Avanzada.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vez de predecir cuántos casos habrá por semana, este modelo responde otra pregunta: dado un paciente que ya llegó con síntomas iniciales de dengue, ¿qué tan probable es que esté desarrollando una forma grave? Lo clasificamos en tres categorías clínicas estándar de la OMS: sin signos de alarma, con signos de alarma, y grave. Es una herramienta de apoyo al triage.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Usamos el histórico del SIVIGILA filtrado para Bucaramanga: 27,460 registros, que tras limpieza quedaron en 9,808 casos. Entradas: veinte síntomas binarios más sexo, gestante, estrato y edad. Excluimos la fiebre: es criterio obligatorio de sospecha en el SIVIGILA, casi todos los casos la tienen; si la dejábamos, el árbol se dividía por algo que el médico ya sabe.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Probamos distintas profundidades con validación cruzada de 5 pliegues. El máximo teórico fue 13, pero elegimos 8: ahí train y validación aún van juntas; desde 9 el train se dispara a 1.0 (memorización). Con solo 25 casos graves en el histórico, la clase Grave genera ruido estadístico en profundidades altas.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árbol entrenado, primeras 3 capas de 8. El nodo raíz es caída de plaquetas — coherente con las guías clínicas (trombocitopenia = signo de alarma). Sigue con mialgias y dolor abdominal. Cada rama es una pregunta explícita, no una caja negra.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Accuracy 95.8% es engañosa por el desbalance. Usamos F1-macro (0.660) como métrica guía. De 5 casos graves reales, detectamos 1; los otros 4 fueron a 'Con alarma', nunca a 'Sin alarma' — clínicamente aceptable, nadie se va dado de alta.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estrato participa en el árbol (importancia ~0.03). Pero el SIVIGILA no lo registra parejo: 70.1% reportado en Con alarma, 5.5% en Sin alarma, 0% en Grave. No podemos evaluar equidad real con datos tan desiguales.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valor de este trabajo no está en el accuracy global: es un árbol interpretable para triage, confirma que la clase Grave es intrínsecamente difícil (0.3% de los casos), y revela grietas en el sistema de vigilancia. El modelo no reemplaza al médico, pero puede ser un soporte transparente. Gracias.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942"/>
        </a:solidFill>
      </p:bgPr>
    </p:bg>
    <p:spTree>
      <p:nvGrpSpPr>
        <p:cNvPr id="1" name=""/>
        <p:cNvGrpSpPr/>
        <p:nvPr/>
      </p:nvGrpSpPr>
      <p:grpSpPr>
        <a:xfrm>
          <a:off x="0" y="0"/>
          <a:ext cx="0" cy="0"/>
          <a:chOff x="0" y="0"/>
          <a:chExt cx="0" cy="0"/>
        </a:xfrm>
      </p:grpSpPr>
      <p:sp>
        <p:nvSpPr>
          <p:cNvPr id="2" name="Shape 0"/>
          <p:cNvSpPr/>
          <p:nvPr/>
        </p:nvSpPr>
        <p:spPr>
          <a:xfrm>
            <a:off x="9692640" y="-1463040"/>
            <a:ext cx="4114800" cy="4114800"/>
          </a:xfrm>
          <a:prstGeom prst="ellipse">
            <a:avLst/>
          </a:prstGeom>
          <a:solidFill>
            <a:srgbClr val="0B4F6C">
              <a:alpha val="45000"/>
            </a:srgbClr>
          </a:solidFill>
          <a:ln/>
        </p:spPr>
      </p:sp>
      <p:sp>
        <p:nvSpPr>
          <p:cNvPr id="3" name="Shape 1"/>
          <p:cNvSpPr/>
          <p:nvPr/>
        </p:nvSpPr>
        <p:spPr>
          <a:xfrm>
            <a:off x="-1097280" y="4754880"/>
            <a:ext cx="3108960" cy="3108960"/>
          </a:xfrm>
          <a:prstGeom prst="ellipse">
            <a:avLst/>
          </a:prstGeom>
          <a:solidFill>
            <a:srgbClr val="4F9DA6">
              <a:alpha val="35000"/>
            </a:srgbClr>
          </a:solidFill>
          <a:ln/>
        </p:spPr>
      </p:sp>
      <p:sp>
        <p:nvSpPr>
          <p:cNvPr id="4" name="Shape 2"/>
          <p:cNvSpPr/>
          <p:nvPr/>
        </p:nvSpPr>
        <p:spPr>
          <a:xfrm>
            <a:off x="822960" y="685800"/>
            <a:ext cx="822960" cy="822960"/>
          </a:xfrm>
          <a:prstGeom prst="ellipse">
            <a:avLst/>
          </a:prstGeom>
          <a:solidFill>
            <a:srgbClr val="0B4F6C"/>
          </a:solidFill>
          <a:ln w="19050">
            <a:solidFill>
              <a:srgbClr val="4F9DA6"/>
            </a:solidFill>
            <a:prstDash val="solid"/>
          </a:ln>
        </p:spPr>
      </p:sp>
      <p:sp>
        <p:nvSpPr>
          <p:cNvPr id="5" name="Text 3"/>
          <p:cNvSpPr/>
          <p:nvPr/>
        </p:nvSpPr>
        <p:spPr>
          <a:xfrm>
            <a:off x="822960" y="685800"/>
            <a:ext cx="822960" cy="822960"/>
          </a:xfrm>
          <a:prstGeom prst="rect">
            <a:avLst/>
          </a:prstGeom>
          <a:noFill/>
          <a:ln/>
        </p:spPr>
        <p:txBody>
          <a:bodyPr wrap="square"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a:t>
            </a:r>
            <a:endParaRPr lang="en-US" sz="3400" dirty="0"/>
          </a:p>
        </p:txBody>
      </p:sp>
      <p:sp>
        <p:nvSpPr>
          <p:cNvPr id="6" name="Text 4"/>
          <p:cNvSpPr/>
          <p:nvPr/>
        </p:nvSpPr>
        <p:spPr>
          <a:xfrm>
            <a:off x="822960" y="1828800"/>
            <a:ext cx="9601200" cy="365760"/>
          </a:xfrm>
          <a:prstGeom prst="rect">
            <a:avLst/>
          </a:prstGeom>
          <a:noFill/>
          <a:ln/>
        </p:spPr>
        <p:txBody>
          <a:bodyPr wrap="square" rtlCol="0" anchor="ctr"/>
          <a:lstStyle/>
          <a:p>
            <a:pPr indent="0" marL="0">
              <a:buNone/>
            </a:pPr>
            <a:r>
              <a:rPr lang="en-US" sz="1300" b="1" spc="200" kern="0" dirty="0">
                <a:solidFill>
                  <a:srgbClr val="4F9DA6"/>
                </a:solidFill>
                <a:latin typeface="Calibri" pitchFamily="34" charset="0"/>
                <a:ea typeface="Calibri" pitchFamily="34" charset="-122"/>
                <a:cs typeface="Calibri" pitchFamily="34" charset="-120"/>
              </a:rPr>
              <a:t>SEGUNDA ENTREGA — APRENDIZAJE BASADO EN RETOS</a:t>
            </a:r>
            <a:endParaRPr lang="en-US" sz="1300" dirty="0"/>
          </a:p>
        </p:txBody>
      </p:sp>
      <p:sp>
        <p:nvSpPr>
          <p:cNvPr id="7" name="Text 5"/>
          <p:cNvSpPr/>
          <p:nvPr/>
        </p:nvSpPr>
        <p:spPr>
          <a:xfrm>
            <a:off x="822960" y="2286000"/>
            <a:ext cx="10332720" cy="1737360"/>
          </a:xfrm>
          <a:prstGeom prst="rect">
            <a:avLst/>
          </a:prstGeom>
          <a:noFill/>
          <a:ln/>
        </p:spPr>
        <p:txBody>
          <a:bodyPr wrap="square"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Clasificación de la Severidad de Casos de Dengue en Bucaramanga mediante un Árbol de Decisiones</a:t>
            </a:r>
            <a:endParaRPr lang="en-US" sz="3800" dirty="0"/>
          </a:p>
        </p:txBody>
      </p:sp>
      <p:sp>
        <p:nvSpPr>
          <p:cNvPr id="8" name="Shape 6"/>
          <p:cNvSpPr/>
          <p:nvPr/>
        </p:nvSpPr>
        <p:spPr>
          <a:xfrm>
            <a:off x="822960" y="4343400"/>
            <a:ext cx="2926080" cy="0"/>
          </a:xfrm>
          <a:prstGeom prst="line">
            <a:avLst/>
          </a:prstGeom>
          <a:noFill/>
          <a:ln w="19050">
            <a:solidFill>
              <a:srgbClr val="4F9DA6"/>
            </a:solidFill>
            <a:prstDash val="solid"/>
          </a:ln>
        </p:spPr>
      </p:sp>
      <p:sp>
        <p:nvSpPr>
          <p:cNvPr id="9" name="Text 7"/>
          <p:cNvSpPr/>
          <p:nvPr/>
        </p:nvSpPr>
        <p:spPr>
          <a:xfrm>
            <a:off x="822960" y="4572000"/>
            <a:ext cx="6400800" cy="1005840"/>
          </a:xfrm>
          <a:prstGeom prst="rect">
            <a:avLst/>
          </a:prstGeom>
          <a:noFill/>
          <a:ln/>
        </p:spPr>
        <p:txBody>
          <a:bodyPr wrap="square" rtlCol="0" anchor="ctr"/>
          <a:lstStyle/>
          <a:p>
            <a:pPr indent="0" marL="0">
              <a:lnSpc>
                <a:spcPct val="125000"/>
              </a:lnSpc>
              <a:buNone/>
            </a:pPr>
            <a:r>
              <a:rPr lang="en-US" sz="1600" dirty="0">
                <a:solidFill>
                  <a:srgbClr val="FFFFFF"/>
                </a:solidFill>
                <a:latin typeface="Calibri" pitchFamily="34" charset="0"/>
                <a:ea typeface="Calibri" pitchFamily="34" charset="-122"/>
                <a:cs typeface="Calibri" pitchFamily="34" charset="-120"/>
              </a:rPr>
              <a:t>Breyner Alexis Acosta Sandoval</a:t>
            </a:r>
            <a:endParaRPr lang="en-US" sz="1600" dirty="0"/>
          </a:p>
          <a:p>
            <a:pPr indent="0" marL="0">
              <a:lnSpc>
                <a:spcPct val="125000"/>
              </a:lnSpc>
              <a:buNone/>
            </a:pPr>
            <a:r>
              <a:rPr lang="en-US" sz="1600" dirty="0">
                <a:solidFill>
                  <a:srgbClr val="FFFFFF"/>
                </a:solidFill>
                <a:latin typeface="Calibri" pitchFamily="34" charset="0"/>
                <a:ea typeface="Calibri" pitchFamily="34" charset="-122"/>
                <a:cs typeface="Calibri" pitchFamily="34" charset="-120"/>
              </a:rPr>
              <a:t>Johan Sebastián Delgado Mantilla</a:t>
            </a:r>
            <a:endParaRPr lang="en-US" sz="1600" dirty="0"/>
          </a:p>
          <a:p>
            <a:pPr indent="0" marL="0">
              <a:lnSpc>
                <a:spcPct val="125000"/>
              </a:lnSpc>
              <a:buNone/>
            </a:pPr>
            <a:r>
              <a:rPr lang="en-US" sz="1600" dirty="0">
                <a:solidFill>
                  <a:srgbClr val="FFFFFF"/>
                </a:solidFill>
                <a:latin typeface="Calibri" pitchFamily="34" charset="0"/>
                <a:ea typeface="Calibri" pitchFamily="34" charset="-122"/>
                <a:cs typeface="Calibri" pitchFamily="34" charset="-120"/>
              </a:rPr>
              <a:t>Yariangel Gabriela Aray Munar</a:t>
            </a:r>
            <a:endParaRPr lang="en-US" sz="1600" dirty="0"/>
          </a:p>
        </p:txBody>
      </p:sp>
      <p:sp>
        <p:nvSpPr>
          <p:cNvPr id="10" name="Text 8"/>
          <p:cNvSpPr/>
          <p:nvPr/>
        </p:nvSpPr>
        <p:spPr>
          <a:xfrm>
            <a:off x="822960" y="5989320"/>
            <a:ext cx="9144000" cy="548640"/>
          </a:xfrm>
          <a:prstGeom prst="rect">
            <a:avLst/>
          </a:prstGeom>
          <a:noFill/>
          <a:ln/>
        </p:spPr>
        <p:txBody>
          <a:bodyPr wrap="square" rtlCol="0" anchor="ctr"/>
          <a:lstStyle/>
          <a:p>
            <a:pPr indent="0" marL="0">
              <a:lnSpc>
                <a:spcPct val="120000"/>
              </a:lnSpc>
              <a:buNone/>
            </a:pPr>
            <a:r>
              <a:rPr lang="en-US" sz="1200" dirty="0">
                <a:solidFill>
                  <a:srgbClr val="9FB3C8"/>
                </a:solidFill>
                <a:latin typeface="Calibri" pitchFamily="34" charset="0"/>
                <a:ea typeface="Calibri" pitchFamily="34" charset="-122"/>
                <a:cs typeface="Calibri" pitchFamily="34" charset="-120"/>
              </a:rPr>
              <a:t>Universidad Tecnológica del Oriente  ·  Ingeniería de Software</a:t>
            </a:r>
            <a:endParaRPr lang="en-US" sz="1200" dirty="0"/>
          </a:p>
          <a:p>
            <a:pPr indent="0" marL="0">
              <a:lnSpc>
                <a:spcPct val="120000"/>
              </a:lnSpc>
              <a:buNone/>
            </a:pPr>
            <a:r>
              <a:rPr lang="en-US" sz="1200" dirty="0">
                <a:solidFill>
                  <a:srgbClr val="9FB3C8"/>
                </a:solidFill>
                <a:latin typeface="Calibri" pitchFamily="34" charset="0"/>
                <a:ea typeface="Calibri" pitchFamily="34" charset="-122"/>
                <a:cs typeface="Calibri" pitchFamily="34" charset="-120"/>
              </a:rPr>
              <a:t>Inteligencia Artificial Avanzada  ·  Prof. Carlos Carrascal Avendaño</a:t>
            </a:r>
            <a:endParaRPr lang="en-US" sz="1200" dirty="0"/>
          </a:p>
        </p:txBody>
      </p:sp>
      <p:sp>
        <p:nvSpPr>
          <p:cNvPr id="12" name="Text 9"/>
          <p:cNvSpPr/>
          <p:nvPr/>
        </p:nvSpPr>
        <p:spPr>
          <a:xfrm>
            <a:off x="11185855" y="6446520"/>
            <a:ext cx="822960" cy="274320"/>
          </a:xfrm>
          <a:prstGeom prst="rect">
            <a:avLst/>
          </a:prstGeom>
          <a:noFill/>
          <a:ln/>
        </p:spPr>
        <p:txBody>
          <a:bodyPr wrap="square" rtlCol="0" anchor="ctr"/>
          <a:lstStyle/>
          <a:p>
            <a:pPr algn="r" indent="0" marL="0">
              <a:buNone/>
            </a:pPr>
            <a:r>
              <a:rPr lang="en-US" sz="1000" dirty="0">
                <a:solidFill>
                  <a:srgbClr val="9FB3C8"/>
                </a:solidFill>
                <a:latin typeface="Calibri" pitchFamily="34" charset="0"/>
                <a:ea typeface="Calibri" pitchFamily="34" charset="-122"/>
                <a:cs typeface="Calibri" pitchFamily="34" charset="-120"/>
              </a:rPr>
              <a:t>1 / 8</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rtlCol="0" anchor="ctr"/>
          <a:lstStyle/>
          <a:p>
            <a:pPr indent="0" marL="0">
              <a:buNone/>
            </a:pPr>
            <a:r>
              <a:rPr lang="en-US" sz="1300" b="1" spc="200" kern="0" dirty="0">
                <a:solidFill>
                  <a:srgbClr val="4F9DA6"/>
                </a:solidFill>
                <a:latin typeface="Calibri" pitchFamily="34" charset="0"/>
                <a:ea typeface="Calibri" pitchFamily="34" charset="-122"/>
                <a:cs typeface="Calibri" pitchFamily="34" charset="-120"/>
              </a:rPr>
              <a:t>EL PROBLEMA</a:t>
            </a:r>
            <a:endParaRPr lang="en-US" sz="1300" dirty="0"/>
          </a:p>
        </p:txBody>
      </p:sp>
      <p:sp>
        <p:nvSpPr>
          <p:cNvPr id="3" name="Text 1"/>
          <p:cNvSpPr/>
          <p:nvPr/>
        </p:nvSpPr>
        <p:spPr>
          <a:xfrm>
            <a:off x="640080" y="777240"/>
            <a:ext cx="10881360" cy="914400"/>
          </a:xfrm>
          <a:prstGeom prst="rect">
            <a:avLst/>
          </a:prstGeom>
          <a:noFill/>
          <a:ln/>
        </p:spPr>
        <p:txBody>
          <a:bodyPr wrap="square" rtlCol="0" anchor="ctr"/>
          <a:lstStyle/>
          <a:p>
            <a:pPr indent="0" marL="0">
              <a:buNone/>
            </a:pPr>
            <a:r>
              <a:rPr lang="en-US" sz="3400" b="1" dirty="0">
                <a:solidFill>
                  <a:srgbClr val="1A2530"/>
                </a:solidFill>
                <a:latin typeface="Cambria" pitchFamily="34" charset="0"/>
                <a:ea typeface="Cambria" pitchFamily="34" charset="-122"/>
                <a:cs typeface="Cambria" pitchFamily="34" charset="-120"/>
              </a:rPr>
              <a:t>¿Este paciente se está complicando?</a:t>
            </a:r>
            <a:endParaRPr lang="en-US" sz="3400" dirty="0"/>
          </a:p>
        </p:txBody>
      </p:sp>
      <p:sp>
        <p:nvSpPr>
          <p:cNvPr id="4" name="Text 2"/>
          <p:cNvSpPr/>
          <p:nvPr/>
        </p:nvSpPr>
        <p:spPr>
          <a:xfrm>
            <a:off x="640080" y="1508760"/>
            <a:ext cx="10881360" cy="457200"/>
          </a:xfrm>
          <a:prstGeom prst="rect">
            <a:avLst/>
          </a:prstGeom>
          <a:noFill/>
          <a:ln/>
        </p:spPr>
        <p:txBody>
          <a:bodyPr wrap="square" rtlCol="0" anchor="ctr"/>
          <a:lstStyle/>
          <a:p>
            <a:pPr indent="0" marL="0">
              <a:buNone/>
            </a:pPr>
            <a:r>
              <a:rPr lang="en-US" sz="1600" i="1" dirty="0">
                <a:solidFill>
                  <a:srgbClr val="6B7280"/>
                </a:solidFill>
                <a:latin typeface="Calibri" pitchFamily="34" charset="0"/>
                <a:ea typeface="Calibri" pitchFamily="34" charset="-122"/>
                <a:cs typeface="Calibri" pitchFamily="34" charset="-120"/>
              </a:rPr>
              <a:t>Clasificación clínica individual como herramienta de triage</a:t>
            </a:r>
            <a:endParaRPr lang="en-US" sz="1600" dirty="0"/>
          </a:p>
        </p:txBody>
      </p:sp>
      <p:sp>
        <p:nvSpPr>
          <p:cNvPr id="5" name="Shape 3"/>
          <p:cNvSpPr/>
          <p:nvPr/>
        </p:nvSpPr>
        <p:spPr>
          <a:xfrm>
            <a:off x="700888" y="2743200"/>
            <a:ext cx="3291840" cy="2194560"/>
          </a:xfrm>
          <a:prstGeom prst="roundRect">
            <a:avLst>
              <a:gd name="adj" fmla="val 5000"/>
            </a:avLst>
          </a:prstGeom>
          <a:solidFill>
            <a:srgbClr val="F3F6F7"/>
          </a:solidFill>
          <a:ln/>
          <a:effectLst>
            <a:outerShdw sx="100000" sy="100000" kx="0" ky="0" algn="bl" rotWithShape="0" blurRad="76200" dist="25400" dir="5400000">
              <a:srgbClr val="999999">
                <a:alpha val="25000"/>
              </a:srgbClr>
            </a:outerShdw>
          </a:effectLst>
        </p:spPr>
      </p:sp>
      <p:sp>
        <p:nvSpPr>
          <p:cNvPr id="6" name="Shape 4"/>
          <p:cNvSpPr/>
          <p:nvPr/>
        </p:nvSpPr>
        <p:spPr>
          <a:xfrm>
            <a:off x="1020928" y="3063240"/>
            <a:ext cx="2651760" cy="109728"/>
          </a:xfrm>
          <a:prstGeom prst="roundRect">
            <a:avLst>
              <a:gd name="adj" fmla="val 50000"/>
            </a:avLst>
          </a:prstGeom>
          <a:solidFill>
            <a:srgbClr val="2E7D32"/>
          </a:solidFill>
          <a:ln/>
        </p:spPr>
      </p:sp>
      <p:sp>
        <p:nvSpPr>
          <p:cNvPr id="7" name="Text 5"/>
          <p:cNvSpPr/>
          <p:nvPr/>
        </p:nvSpPr>
        <p:spPr>
          <a:xfrm>
            <a:off x="883768" y="3383280"/>
            <a:ext cx="2926080" cy="640080"/>
          </a:xfrm>
          <a:prstGeom prst="rect">
            <a:avLst/>
          </a:prstGeom>
          <a:noFill/>
          <a:ln/>
        </p:spPr>
        <p:txBody>
          <a:bodyPr wrap="square" rtlCol="0" anchor="ctr"/>
          <a:lstStyle/>
          <a:p>
            <a:pPr algn="ctr" indent="0" marL="0">
              <a:buNone/>
            </a:pPr>
            <a:r>
              <a:rPr lang="en-US" sz="2400" b="1" dirty="0">
                <a:solidFill>
                  <a:srgbClr val="1A2530"/>
                </a:solidFill>
                <a:latin typeface="Cambria" pitchFamily="34" charset="0"/>
                <a:ea typeface="Cambria" pitchFamily="34" charset="-122"/>
                <a:cs typeface="Cambria" pitchFamily="34" charset="-120"/>
              </a:rPr>
              <a:t>Sin alarma</a:t>
            </a:r>
            <a:endParaRPr lang="en-US" sz="2400" dirty="0"/>
          </a:p>
        </p:txBody>
      </p:sp>
      <p:sp>
        <p:nvSpPr>
          <p:cNvPr id="8" name="Text 6"/>
          <p:cNvSpPr/>
          <p:nvPr/>
        </p:nvSpPr>
        <p:spPr>
          <a:xfrm>
            <a:off x="883768" y="4114800"/>
            <a:ext cx="2926080" cy="548640"/>
          </a:xfrm>
          <a:prstGeom prst="rect">
            <a:avLst/>
          </a:prstGeom>
          <a:noFill/>
          <a:ln/>
        </p:spPr>
        <p:txBody>
          <a:bodyPr wrap="square" rtlCol="0" anchor="ctr"/>
          <a:lstStyle/>
          <a:p>
            <a:pPr algn="ctr" indent="0" marL="0">
              <a:buNone/>
            </a:pPr>
            <a:r>
              <a:rPr lang="en-US" sz="1400" dirty="0">
                <a:solidFill>
                  <a:srgbClr val="6B7280"/>
                </a:solidFill>
                <a:latin typeface="Calibri" pitchFamily="34" charset="0"/>
                <a:ea typeface="Calibri" pitchFamily="34" charset="-122"/>
                <a:cs typeface="Calibri" pitchFamily="34" charset="-120"/>
              </a:rPr>
              <a:t>Manejo ambulatorio</a:t>
            </a:r>
            <a:endParaRPr lang="en-US" sz="1400" dirty="0"/>
          </a:p>
        </p:txBody>
      </p:sp>
      <p:sp>
        <p:nvSpPr>
          <p:cNvPr id="9" name="Shape 7"/>
          <p:cNvSpPr/>
          <p:nvPr/>
        </p:nvSpPr>
        <p:spPr>
          <a:xfrm>
            <a:off x="4449928" y="2743200"/>
            <a:ext cx="3291840" cy="2194560"/>
          </a:xfrm>
          <a:prstGeom prst="roundRect">
            <a:avLst>
              <a:gd name="adj" fmla="val 5000"/>
            </a:avLst>
          </a:prstGeom>
          <a:solidFill>
            <a:srgbClr val="F3F6F7"/>
          </a:solidFill>
          <a:ln/>
          <a:effectLst>
            <a:outerShdw sx="100000" sy="100000" kx="0" ky="0" algn="bl" rotWithShape="0" blurRad="76200" dist="25400" dir="5400000">
              <a:srgbClr val="999999">
                <a:alpha val="25000"/>
              </a:srgbClr>
            </a:outerShdw>
          </a:effectLst>
        </p:spPr>
      </p:sp>
      <p:sp>
        <p:nvSpPr>
          <p:cNvPr id="10" name="Shape 8"/>
          <p:cNvSpPr/>
          <p:nvPr/>
        </p:nvSpPr>
        <p:spPr>
          <a:xfrm>
            <a:off x="4769968" y="3063240"/>
            <a:ext cx="2651760" cy="109728"/>
          </a:xfrm>
          <a:prstGeom prst="roundRect">
            <a:avLst>
              <a:gd name="adj" fmla="val 50000"/>
            </a:avLst>
          </a:prstGeom>
          <a:solidFill>
            <a:srgbClr val="C77D0E"/>
          </a:solidFill>
          <a:ln/>
        </p:spPr>
      </p:sp>
      <p:sp>
        <p:nvSpPr>
          <p:cNvPr id="11" name="Text 9"/>
          <p:cNvSpPr/>
          <p:nvPr/>
        </p:nvSpPr>
        <p:spPr>
          <a:xfrm>
            <a:off x="4632808" y="3383280"/>
            <a:ext cx="2926080" cy="640080"/>
          </a:xfrm>
          <a:prstGeom prst="rect">
            <a:avLst/>
          </a:prstGeom>
          <a:noFill/>
          <a:ln/>
        </p:spPr>
        <p:txBody>
          <a:bodyPr wrap="square" rtlCol="0" anchor="ctr"/>
          <a:lstStyle/>
          <a:p>
            <a:pPr algn="ctr" indent="0" marL="0">
              <a:buNone/>
            </a:pPr>
            <a:r>
              <a:rPr lang="en-US" sz="2400" b="1" dirty="0">
                <a:solidFill>
                  <a:srgbClr val="1A2530"/>
                </a:solidFill>
                <a:latin typeface="Cambria" pitchFamily="34" charset="0"/>
                <a:ea typeface="Cambria" pitchFamily="34" charset="-122"/>
                <a:cs typeface="Cambria" pitchFamily="34" charset="-120"/>
              </a:rPr>
              <a:t>Con alarma</a:t>
            </a:r>
            <a:endParaRPr lang="en-US" sz="2400" dirty="0"/>
          </a:p>
        </p:txBody>
      </p:sp>
      <p:sp>
        <p:nvSpPr>
          <p:cNvPr id="12" name="Text 10"/>
          <p:cNvSpPr/>
          <p:nvPr/>
        </p:nvSpPr>
        <p:spPr>
          <a:xfrm>
            <a:off x="4632808" y="4114800"/>
            <a:ext cx="2926080" cy="548640"/>
          </a:xfrm>
          <a:prstGeom prst="rect">
            <a:avLst/>
          </a:prstGeom>
          <a:noFill/>
          <a:ln/>
        </p:spPr>
        <p:txBody>
          <a:bodyPr wrap="square" rtlCol="0" anchor="ctr"/>
          <a:lstStyle/>
          <a:p>
            <a:pPr algn="ctr" indent="0" marL="0">
              <a:buNone/>
            </a:pPr>
            <a:r>
              <a:rPr lang="en-US" sz="1400" dirty="0">
                <a:solidFill>
                  <a:srgbClr val="6B7280"/>
                </a:solidFill>
                <a:latin typeface="Calibri" pitchFamily="34" charset="0"/>
                <a:ea typeface="Calibri" pitchFamily="34" charset="-122"/>
                <a:cs typeface="Calibri" pitchFamily="34" charset="-120"/>
              </a:rPr>
              <a:t>Observación</a:t>
            </a:r>
            <a:endParaRPr lang="en-US" sz="1400" dirty="0"/>
          </a:p>
        </p:txBody>
      </p:sp>
      <p:sp>
        <p:nvSpPr>
          <p:cNvPr id="13" name="Shape 11"/>
          <p:cNvSpPr/>
          <p:nvPr/>
        </p:nvSpPr>
        <p:spPr>
          <a:xfrm>
            <a:off x="8198968" y="2743200"/>
            <a:ext cx="3291840" cy="2194560"/>
          </a:xfrm>
          <a:prstGeom prst="roundRect">
            <a:avLst>
              <a:gd name="adj" fmla="val 5000"/>
            </a:avLst>
          </a:prstGeom>
          <a:solidFill>
            <a:srgbClr val="F3F6F7"/>
          </a:solidFill>
          <a:ln/>
          <a:effectLst>
            <a:outerShdw sx="100000" sy="100000" kx="0" ky="0" algn="bl" rotWithShape="0" blurRad="76200" dist="25400" dir="5400000">
              <a:srgbClr val="999999">
                <a:alpha val="25000"/>
              </a:srgbClr>
            </a:outerShdw>
          </a:effectLst>
        </p:spPr>
      </p:sp>
      <p:sp>
        <p:nvSpPr>
          <p:cNvPr id="14" name="Shape 12"/>
          <p:cNvSpPr/>
          <p:nvPr/>
        </p:nvSpPr>
        <p:spPr>
          <a:xfrm>
            <a:off x="8519008" y="3063240"/>
            <a:ext cx="2651760" cy="109728"/>
          </a:xfrm>
          <a:prstGeom prst="roundRect">
            <a:avLst>
              <a:gd name="adj" fmla="val 50000"/>
            </a:avLst>
          </a:prstGeom>
          <a:solidFill>
            <a:srgbClr val="C1272D"/>
          </a:solidFill>
          <a:ln/>
        </p:spPr>
      </p:sp>
      <p:sp>
        <p:nvSpPr>
          <p:cNvPr id="15" name="Text 13"/>
          <p:cNvSpPr/>
          <p:nvPr/>
        </p:nvSpPr>
        <p:spPr>
          <a:xfrm>
            <a:off x="8381848" y="3383280"/>
            <a:ext cx="2926080" cy="640080"/>
          </a:xfrm>
          <a:prstGeom prst="rect">
            <a:avLst/>
          </a:prstGeom>
          <a:noFill/>
          <a:ln/>
        </p:spPr>
        <p:txBody>
          <a:bodyPr wrap="square" rtlCol="0" anchor="ctr"/>
          <a:lstStyle/>
          <a:p>
            <a:pPr algn="ctr" indent="0" marL="0">
              <a:buNone/>
            </a:pPr>
            <a:r>
              <a:rPr lang="en-US" sz="2400" b="1" dirty="0">
                <a:solidFill>
                  <a:srgbClr val="1A2530"/>
                </a:solidFill>
                <a:latin typeface="Cambria" pitchFamily="34" charset="0"/>
                <a:ea typeface="Cambria" pitchFamily="34" charset="-122"/>
                <a:cs typeface="Cambria" pitchFamily="34" charset="-120"/>
              </a:rPr>
              <a:t>Grave</a:t>
            </a:r>
            <a:endParaRPr lang="en-US" sz="2400" dirty="0"/>
          </a:p>
        </p:txBody>
      </p:sp>
      <p:sp>
        <p:nvSpPr>
          <p:cNvPr id="16" name="Text 14"/>
          <p:cNvSpPr/>
          <p:nvPr/>
        </p:nvSpPr>
        <p:spPr>
          <a:xfrm>
            <a:off x="8381848" y="4114800"/>
            <a:ext cx="2926080" cy="548640"/>
          </a:xfrm>
          <a:prstGeom prst="rect">
            <a:avLst/>
          </a:prstGeom>
          <a:noFill/>
          <a:ln/>
        </p:spPr>
        <p:txBody>
          <a:bodyPr wrap="square" rtlCol="0" anchor="ctr"/>
          <a:lstStyle/>
          <a:p>
            <a:pPr algn="ctr" indent="0" marL="0">
              <a:buNone/>
            </a:pPr>
            <a:r>
              <a:rPr lang="en-US" sz="1400" dirty="0">
                <a:solidFill>
                  <a:srgbClr val="6B7280"/>
                </a:solidFill>
                <a:latin typeface="Calibri" pitchFamily="34" charset="0"/>
                <a:ea typeface="Calibri" pitchFamily="34" charset="-122"/>
                <a:cs typeface="Calibri" pitchFamily="34" charset="-120"/>
              </a:rPr>
              <a:t>Atención inmediata</a:t>
            </a:r>
            <a:endParaRPr lang="en-US" sz="1400" dirty="0"/>
          </a:p>
        </p:txBody>
      </p:sp>
      <p:sp>
        <p:nvSpPr>
          <p:cNvPr id="17" name="Text 15"/>
          <p:cNvSpPr/>
          <p:nvPr/>
        </p:nvSpPr>
        <p:spPr>
          <a:xfrm>
            <a:off x="822960" y="5349240"/>
            <a:ext cx="10515600" cy="1005840"/>
          </a:xfrm>
          <a:prstGeom prst="rect">
            <a:avLst/>
          </a:prstGeom>
          <a:noFill/>
          <a:ln/>
        </p:spPr>
        <p:txBody>
          <a:bodyPr wrap="square" rtlCol="0" anchor="ctr"/>
          <a:lstStyle/>
          <a:p>
            <a:pPr indent="0" marL="0">
              <a:lnSpc>
                <a:spcPct val="125000"/>
              </a:lnSpc>
              <a:buNone/>
            </a:pPr>
            <a:r>
              <a:rPr lang="en-US" sz="1400" dirty="0">
                <a:solidFill>
                  <a:srgbClr val="1A2530"/>
                </a:solidFill>
                <a:latin typeface="Calibri" pitchFamily="34" charset="0"/>
                <a:ea typeface="Calibri" pitchFamily="34" charset="-122"/>
                <a:cs typeface="Calibri" pitchFamily="34" charset="-120"/>
              </a:rPr>
              <a:t>En vez de predecir cuántos casos habrá por semana, este modelo responde: dado un paciente con síntomas iniciales, ¿qué tan probable es que esté desarrollando una forma grave? Lo clasificamos en tres categorías clínicas estándar de la OMS.</a:t>
            </a:r>
            <a:endParaRPr lang="en-US" sz="1400" dirty="0"/>
          </a:p>
        </p:txBody>
      </p:sp>
      <p:sp>
        <p:nvSpPr>
          <p:cNvPr id="19" name="Text 16"/>
          <p:cNvSpPr/>
          <p:nvPr/>
        </p:nvSpPr>
        <p:spPr>
          <a:xfrm>
            <a:off x="11185855" y="6446520"/>
            <a:ext cx="82296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2 / 8</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indent="0" marL="0">
              <a:buNone/>
            </a:pPr>
            <a:r>
              <a:rPr lang="en-US" sz="1300" b="1" spc="200" kern="0" dirty="0">
                <a:solidFill>
                  <a:srgbClr val="4F9DA6"/>
                </a:solidFill>
                <a:latin typeface="Calibri" pitchFamily="34" charset="0"/>
                <a:ea typeface="Calibri" pitchFamily="34" charset="-122"/>
                <a:cs typeface="Calibri" pitchFamily="34" charset="-120"/>
              </a:rPr>
              <a:t>DATOS Y PREPROCESAMIENTO</a:t>
            </a:r>
            <a:endParaRPr lang="en-US" sz="1300" dirty="0"/>
          </a:p>
        </p:txBody>
      </p:sp>
      <p:sp>
        <p:nvSpPr>
          <p:cNvPr id="3" name="Text 1"/>
          <p:cNvSpPr/>
          <p:nvPr/>
        </p:nvSpPr>
        <p:spPr>
          <a:xfrm>
            <a:off x="640080" y="777240"/>
            <a:ext cx="10881360" cy="822960"/>
          </a:xfrm>
          <a:prstGeom prst="rect">
            <a:avLst/>
          </a:prstGeom>
          <a:noFill/>
          <a:ln/>
        </p:spPr>
        <p:txBody>
          <a:bodyPr wrap="square" rtlCol="0" anchor="ctr"/>
          <a:lstStyle/>
          <a:p>
            <a:pPr indent="0" marL="0">
              <a:buNone/>
            </a:pPr>
            <a:r>
              <a:rPr lang="en-US" sz="2800" b="1" dirty="0">
                <a:solidFill>
                  <a:srgbClr val="1A2530"/>
                </a:solidFill>
                <a:latin typeface="Cambria" pitchFamily="34" charset="0"/>
                <a:ea typeface="Cambria" pitchFamily="34" charset="-122"/>
                <a:cs typeface="Cambria" pitchFamily="34" charset="-120"/>
              </a:rPr>
              <a:t>De 27,460 registros del SIVIGILA a 9,808 casos analizables</a:t>
            </a:r>
            <a:endParaRPr lang="en-US" sz="2800" dirty="0"/>
          </a:p>
        </p:txBody>
      </p:sp>
      <p:sp>
        <p:nvSpPr>
          <p:cNvPr id="4" name="Shape 2"/>
          <p:cNvSpPr/>
          <p:nvPr/>
        </p:nvSpPr>
        <p:spPr>
          <a:xfrm>
            <a:off x="640080" y="1920240"/>
            <a:ext cx="3291840" cy="1051560"/>
          </a:xfrm>
          <a:prstGeom prst="roundRect">
            <a:avLst>
              <a:gd name="adj" fmla="val 8696"/>
            </a:avLst>
          </a:prstGeom>
          <a:solidFill>
            <a:srgbClr val="0B4F6C"/>
          </a:solidFill>
          <a:ln/>
        </p:spPr>
      </p:sp>
      <p:sp>
        <p:nvSpPr>
          <p:cNvPr id="5" name="Text 3"/>
          <p:cNvSpPr/>
          <p:nvPr/>
        </p:nvSpPr>
        <p:spPr>
          <a:xfrm>
            <a:off x="868680" y="2029968"/>
            <a:ext cx="2834640" cy="50292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SIVIGILA</a:t>
            </a:r>
            <a:endParaRPr lang="en-US" sz="2000" dirty="0"/>
          </a:p>
        </p:txBody>
      </p:sp>
      <p:sp>
        <p:nvSpPr>
          <p:cNvPr id="6" name="Text 4"/>
          <p:cNvSpPr/>
          <p:nvPr/>
        </p:nvSpPr>
        <p:spPr>
          <a:xfrm>
            <a:off x="868680" y="2542032"/>
            <a:ext cx="2834640" cy="320040"/>
          </a:xfrm>
          <a:prstGeom prst="rect">
            <a:avLst/>
          </a:prstGeom>
          <a:noFill/>
          <a:ln/>
        </p:spPr>
        <p:txBody>
          <a:bodyPr wrap="square" rtlCol="0" anchor="ctr"/>
          <a:lstStyle/>
          <a:p>
            <a:pPr indent="0" marL="0">
              <a:buNone/>
            </a:pPr>
            <a:r>
              <a:rPr lang="en-US" sz="1200" dirty="0">
                <a:solidFill>
                  <a:srgbClr val="CFE3EA"/>
                </a:solidFill>
                <a:latin typeface="Calibri" pitchFamily="34" charset="0"/>
                <a:ea typeface="Calibri" pitchFamily="34" charset="-122"/>
                <a:cs typeface="Calibri" pitchFamily="34" charset="-120"/>
              </a:rPr>
              <a:t>datos.gov.co</a:t>
            </a:r>
            <a:endParaRPr lang="en-US" sz="1200" dirty="0"/>
          </a:p>
        </p:txBody>
      </p:sp>
      <p:sp>
        <p:nvSpPr>
          <p:cNvPr id="7" name="Shape 5"/>
          <p:cNvSpPr/>
          <p:nvPr/>
        </p:nvSpPr>
        <p:spPr>
          <a:xfrm>
            <a:off x="4389120" y="1920240"/>
            <a:ext cx="3291840" cy="1051560"/>
          </a:xfrm>
          <a:prstGeom prst="roundRect">
            <a:avLst>
              <a:gd name="adj" fmla="val 8696"/>
            </a:avLst>
          </a:prstGeom>
          <a:solidFill>
            <a:srgbClr val="0B4F6C"/>
          </a:solidFill>
          <a:ln/>
        </p:spPr>
      </p:sp>
      <p:sp>
        <p:nvSpPr>
          <p:cNvPr id="8" name="Text 6"/>
          <p:cNvSpPr/>
          <p:nvPr/>
        </p:nvSpPr>
        <p:spPr>
          <a:xfrm>
            <a:off x="4617720" y="2029968"/>
            <a:ext cx="2834640" cy="50292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Bucaramanga</a:t>
            </a:r>
            <a:endParaRPr lang="en-US" sz="2000" dirty="0"/>
          </a:p>
        </p:txBody>
      </p:sp>
      <p:sp>
        <p:nvSpPr>
          <p:cNvPr id="9" name="Text 7"/>
          <p:cNvSpPr/>
          <p:nvPr/>
        </p:nvSpPr>
        <p:spPr>
          <a:xfrm>
            <a:off x="4617720" y="2542032"/>
            <a:ext cx="2834640" cy="320040"/>
          </a:xfrm>
          <a:prstGeom prst="rect">
            <a:avLst/>
          </a:prstGeom>
          <a:noFill/>
          <a:ln/>
        </p:spPr>
        <p:txBody>
          <a:bodyPr wrap="square" rtlCol="0" anchor="ctr"/>
          <a:lstStyle/>
          <a:p>
            <a:pPr indent="0" marL="0">
              <a:buNone/>
            </a:pPr>
            <a:r>
              <a:rPr lang="en-US" sz="1200" dirty="0">
                <a:solidFill>
                  <a:srgbClr val="CFE3EA"/>
                </a:solidFill>
                <a:latin typeface="Calibri" pitchFamily="34" charset="0"/>
                <a:ea typeface="Calibri" pitchFamily="34" charset="-122"/>
                <a:cs typeface="Calibri" pitchFamily="34" charset="-120"/>
              </a:rPr>
              <a:t>cod_dpto_r = 68</a:t>
            </a:r>
            <a:endParaRPr lang="en-US" sz="1200" dirty="0"/>
          </a:p>
        </p:txBody>
      </p:sp>
      <p:sp>
        <p:nvSpPr>
          <p:cNvPr id="10" name="Shape 8"/>
          <p:cNvSpPr/>
          <p:nvPr/>
        </p:nvSpPr>
        <p:spPr>
          <a:xfrm>
            <a:off x="8138160" y="1920240"/>
            <a:ext cx="3291840" cy="1051560"/>
          </a:xfrm>
          <a:prstGeom prst="roundRect">
            <a:avLst>
              <a:gd name="adj" fmla="val 8696"/>
            </a:avLst>
          </a:prstGeom>
          <a:solidFill>
            <a:srgbClr val="0B4F6C"/>
          </a:solidFill>
          <a:ln/>
        </p:spPr>
      </p:sp>
      <p:sp>
        <p:nvSpPr>
          <p:cNvPr id="11" name="Text 9"/>
          <p:cNvSpPr/>
          <p:nvPr/>
        </p:nvSpPr>
        <p:spPr>
          <a:xfrm>
            <a:off x="8366760" y="2029968"/>
            <a:ext cx="2834640" cy="50292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9,808</a:t>
            </a:r>
            <a:endParaRPr lang="en-US" sz="2000" dirty="0"/>
          </a:p>
        </p:txBody>
      </p:sp>
      <p:sp>
        <p:nvSpPr>
          <p:cNvPr id="12" name="Text 10"/>
          <p:cNvSpPr/>
          <p:nvPr/>
        </p:nvSpPr>
        <p:spPr>
          <a:xfrm>
            <a:off x="8366760" y="2542032"/>
            <a:ext cx="2834640" cy="320040"/>
          </a:xfrm>
          <a:prstGeom prst="rect">
            <a:avLst/>
          </a:prstGeom>
          <a:noFill/>
          <a:ln/>
        </p:spPr>
        <p:txBody>
          <a:bodyPr wrap="square" rtlCol="0" anchor="ctr"/>
          <a:lstStyle/>
          <a:p>
            <a:pPr indent="0" marL="0">
              <a:buNone/>
            </a:pPr>
            <a:r>
              <a:rPr lang="en-US" sz="1200" dirty="0">
                <a:solidFill>
                  <a:srgbClr val="CFE3EA"/>
                </a:solidFill>
                <a:latin typeface="Calibri" pitchFamily="34" charset="0"/>
                <a:ea typeface="Calibri" pitchFamily="34" charset="-122"/>
                <a:cs typeface="Calibri" pitchFamily="34" charset="-120"/>
              </a:rPr>
              <a:t>casos analizables</a:t>
            </a:r>
            <a:endParaRPr lang="en-US" sz="1200" dirty="0"/>
          </a:p>
        </p:txBody>
      </p:sp>
      <p:sp>
        <p:nvSpPr>
          <p:cNvPr id="13" name="Text 11"/>
          <p:cNvSpPr/>
          <p:nvPr/>
        </p:nvSpPr>
        <p:spPr>
          <a:xfrm>
            <a:off x="640080" y="3291840"/>
            <a:ext cx="5486400" cy="274320"/>
          </a:xfrm>
          <a:prstGeom prst="rect">
            <a:avLst/>
          </a:prstGeom>
          <a:noFill/>
          <a:ln/>
        </p:spPr>
        <p:txBody>
          <a:bodyPr wrap="square" rtlCol="0" anchor="ctr"/>
          <a:lstStyle/>
          <a:p>
            <a:pPr indent="0" marL="0">
              <a:buNone/>
            </a:pPr>
            <a:r>
              <a:rPr lang="en-US" sz="1200" b="1" spc="150" kern="0" dirty="0">
                <a:solidFill>
                  <a:srgbClr val="0B4F6C"/>
                </a:solidFill>
                <a:latin typeface="Calibri" pitchFamily="34" charset="0"/>
                <a:ea typeface="Calibri" pitchFamily="34" charset="-122"/>
                <a:cs typeface="Calibri" pitchFamily="34" charset="-120"/>
              </a:rPr>
              <a:t>VARIABLES DE ENTRADA</a:t>
            </a:r>
            <a:endParaRPr lang="en-US" sz="1200" dirty="0"/>
          </a:p>
        </p:txBody>
      </p:sp>
      <p:sp>
        <p:nvSpPr>
          <p:cNvPr id="14" name="Text 12"/>
          <p:cNvSpPr/>
          <p:nvPr/>
        </p:nvSpPr>
        <p:spPr>
          <a:xfrm>
            <a:off x="640080" y="3611880"/>
            <a:ext cx="6035040" cy="1554480"/>
          </a:xfrm>
          <a:prstGeom prst="rect">
            <a:avLst/>
          </a:prstGeom>
          <a:noFill/>
          <a:ln/>
        </p:spPr>
        <p:txBody>
          <a:bodyPr wrap="square" rtlCol="0" anchor="ctr"/>
          <a:lstStyle/>
          <a:p>
            <a:pPr indent="0" marL="0">
              <a:lnSpc>
                <a:spcPct val="135000"/>
              </a:lnSpc>
              <a:buNone/>
            </a:pPr>
            <a:r>
              <a:rPr lang="en-US" sz="1350" b="1" dirty="0">
                <a:solidFill>
                  <a:srgbClr val="1A2530"/>
                </a:solidFill>
                <a:latin typeface="Calibri" pitchFamily="34" charset="0"/>
                <a:ea typeface="Calibri" pitchFamily="34" charset="-122"/>
                <a:cs typeface="Calibri" pitchFamily="34" charset="-120"/>
              </a:rPr>
              <a:t>20 síntomas binarios: </a:t>
            </a:r>
            <a:pPr indent="0" marL="0">
              <a:lnSpc>
                <a:spcPct val="135000"/>
              </a:lnSpc>
              <a:buNone/>
            </a:pPr>
            <a:r>
              <a:rPr lang="en-US" sz="1350" dirty="0">
                <a:solidFill>
                  <a:srgbClr val="1A2530"/>
                </a:solidFill>
                <a:latin typeface="Calibri" pitchFamily="34" charset="0"/>
                <a:ea typeface="Calibri" pitchFamily="34" charset="-122"/>
                <a:cs typeface="Calibri" pitchFamily="34" charset="-120"/>
              </a:rPr>
              <a:t>cefalea, mialgias, artralgia, vómito, diarrea, hipotensión, caída de plaquetas, choque, entre otros</a:t>
            </a:r>
            <a:endParaRPr lang="en-US" sz="1350" dirty="0"/>
          </a:p>
          <a:p>
            <a:pPr indent="0" marL="0">
              <a:lnSpc>
                <a:spcPct val="135000"/>
              </a:lnSpc>
              <a:buNone/>
            </a:pPr>
            <a:r>
              <a:rPr lang="en-US" sz="1350" b="1" dirty="0">
                <a:solidFill>
                  <a:srgbClr val="1A2530"/>
                </a:solidFill>
                <a:latin typeface="Calibri" pitchFamily="34" charset="0"/>
                <a:ea typeface="Calibri" pitchFamily="34" charset="-122"/>
                <a:cs typeface="Calibri" pitchFamily="34" charset="-120"/>
              </a:rPr>
              <a:t>Variables demográficas: </a:t>
            </a:r>
            <a:pPr indent="0" marL="0">
              <a:lnSpc>
                <a:spcPct val="135000"/>
              </a:lnSpc>
              <a:buNone/>
            </a:pPr>
            <a:r>
              <a:rPr lang="en-US" sz="1350" dirty="0">
                <a:solidFill>
                  <a:srgbClr val="1A2530"/>
                </a:solidFill>
                <a:latin typeface="Calibri" pitchFamily="34" charset="0"/>
                <a:ea typeface="Calibri" pitchFamily="34" charset="-122"/>
                <a:cs typeface="Calibri" pitchFamily="34" charset="-120"/>
              </a:rPr>
              <a:t>sexo, gestante, estrato socioeconómico, edad aproximada</a:t>
            </a:r>
            <a:endParaRPr lang="en-US" sz="1350" dirty="0"/>
          </a:p>
        </p:txBody>
      </p:sp>
      <p:sp>
        <p:nvSpPr>
          <p:cNvPr id="15" name="Shape 13"/>
          <p:cNvSpPr/>
          <p:nvPr/>
        </p:nvSpPr>
        <p:spPr>
          <a:xfrm>
            <a:off x="7040880" y="3291840"/>
            <a:ext cx="4480560" cy="3017520"/>
          </a:xfrm>
          <a:prstGeom prst="roundRect">
            <a:avLst>
              <a:gd name="adj" fmla="val 3030"/>
            </a:avLst>
          </a:prstGeom>
          <a:solidFill>
            <a:srgbClr val="FBEAEA"/>
          </a:solidFill>
          <a:ln w="15875">
            <a:solidFill>
              <a:srgbClr val="C1272D"/>
            </a:solidFill>
            <a:prstDash val="solid"/>
          </a:ln>
        </p:spPr>
      </p:sp>
      <p:sp>
        <p:nvSpPr>
          <p:cNvPr id="16" name="Text 14"/>
          <p:cNvSpPr/>
          <p:nvPr/>
        </p:nvSpPr>
        <p:spPr>
          <a:xfrm>
            <a:off x="7269480" y="3493008"/>
            <a:ext cx="457200" cy="457200"/>
          </a:xfrm>
          <a:prstGeom prst="rect">
            <a:avLst/>
          </a:prstGeom>
          <a:noFill/>
          <a:ln/>
        </p:spPr>
        <p:txBody>
          <a:bodyPr wrap="square" rtlCol="0" anchor="ctr"/>
          <a:lstStyle/>
          <a:p>
            <a:pPr indent="0" marL="0">
              <a:buNone/>
            </a:pPr>
            <a:r>
              <a:rPr lang="en-US" sz="2000" dirty="0">
                <a:solidFill>
                  <a:srgbClr val="C1272D"/>
                </a:solidFill>
                <a:latin typeface="Calibri" pitchFamily="34" charset="0"/>
                <a:ea typeface="Calibri" pitchFamily="34" charset="-122"/>
                <a:cs typeface="Calibri" pitchFamily="34" charset="-120"/>
              </a:rPr>
              <a:t>⚠</a:t>
            </a:r>
            <a:endParaRPr lang="en-US" sz="2000" dirty="0"/>
          </a:p>
        </p:txBody>
      </p:sp>
      <p:sp>
        <p:nvSpPr>
          <p:cNvPr id="17" name="Text 15"/>
          <p:cNvSpPr/>
          <p:nvPr/>
        </p:nvSpPr>
        <p:spPr>
          <a:xfrm>
            <a:off x="7726680" y="3493008"/>
            <a:ext cx="3566160" cy="457200"/>
          </a:xfrm>
          <a:prstGeom prst="rect">
            <a:avLst/>
          </a:prstGeom>
          <a:noFill/>
          <a:ln/>
        </p:spPr>
        <p:txBody>
          <a:bodyPr wrap="square" rtlCol="0" anchor="ctr"/>
          <a:lstStyle/>
          <a:p>
            <a:pPr indent="0" marL="0">
              <a:buNone/>
            </a:pPr>
            <a:r>
              <a:rPr lang="en-US" sz="1700" b="1" dirty="0">
                <a:solidFill>
                  <a:srgbClr val="C1272D"/>
                </a:solidFill>
                <a:latin typeface="Cambria" pitchFamily="34" charset="0"/>
                <a:ea typeface="Cambria" pitchFamily="34" charset="-122"/>
                <a:cs typeface="Cambria" pitchFamily="34" charset="-120"/>
              </a:rPr>
              <a:t>Excluimos la fiebre</a:t>
            </a:r>
            <a:endParaRPr lang="en-US" sz="1700" dirty="0"/>
          </a:p>
        </p:txBody>
      </p:sp>
      <p:sp>
        <p:nvSpPr>
          <p:cNvPr id="18" name="Text 16"/>
          <p:cNvSpPr/>
          <p:nvPr/>
        </p:nvSpPr>
        <p:spPr>
          <a:xfrm>
            <a:off x="7315200" y="4069080"/>
            <a:ext cx="3931920" cy="2011680"/>
          </a:xfrm>
          <a:prstGeom prst="rect">
            <a:avLst/>
          </a:prstGeom>
          <a:noFill/>
          <a:ln/>
        </p:spPr>
        <p:txBody>
          <a:bodyPr wrap="square" rtlCol="0" anchor="ctr"/>
          <a:lstStyle/>
          <a:p>
            <a:pPr indent="0" marL="0">
              <a:lnSpc>
                <a:spcPct val="130000"/>
              </a:lnSpc>
              <a:buNone/>
            </a:pPr>
            <a:r>
              <a:rPr lang="en-US" sz="1350" dirty="0">
                <a:solidFill>
                  <a:srgbClr val="1A2530"/>
                </a:solidFill>
                <a:latin typeface="Calibri" pitchFamily="34" charset="0"/>
                <a:ea typeface="Calibri" pitchFamily="34" charset="-122"/>
                <a:cs typeface="Calibri" pitchFamily="34" charset="-120"/>
              </a:rPr>
              <a:t>Es criterio obligatorio de sospecha en el SIVIGILA: el médico ya sabe que el paciente la tiene. Al quitarla, el árbol se vuelve una herramienta de triage real, que discrimina por los síntomas restantes en vez de por un dato ya conocido.</a:t>
            </a:r>
            <a:endParaRPr lang="en-US" sz="1350" dirty="0"/>
          </a:p>
        </p:txBody>
      </p:sp>
      <p:sp>
        <p:nvSpPr>
          <p:cNvPr id="19" name="Text 17"/>
          <p:cNvSpPr/>
          <p:nvPr/>
        </p:nvSpPr>
        <p:spPr>
          <a:xfrm>
            <a:off x="640080" y="5440680"/>
            <a:ext cx="6035040" cy="365760"/>
          </a:xfrm>
          <a:prstGeom prst="rect">
            <a:avLst/>
          </a:prstGeom>
          <a:noFill/>
          <a:ln/>
        </p:spPr>
        <p:txBody>
          <a:bodyPr wrap="square"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Objetivo: clasfinal → Sin alarma / Con alarma / Grave (OMS, 2009)</a:t>
            </a:r>
            <a:endParaRPr lang="en-US" sz="1300" dirty="0"/>
          </a:p>
        </p:txBody>
      </p:sp>
      <p:sp>
        <p:nvSpPr>
          <p:cNvPr id="21" name="Text 18"/>
          <p:cNvSpPr/>
          <p:nvPr/>
        </p:nvSpPr>
        <p:spPr>
          <a:xfrm>
            <a:off x="11185855" y="6446520"/>
            <a:ext cx="82296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3 / 8</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7315200" cy="320040"/>
          </a:xfrm>
          <a:prstGeom prst="rect">
            <a:avLst/>
          </a:prstGeom>
          <a:noFill/>
          <a:ln/>
        </p:spPr>
        <p:txBody>
          <a:bodyPr wrap="square" rtlCol="0" anchor="ctr"/>
          <a:lstStyle/>
          <a:p>
            <a:pPr indent="0" marL="0">
              <a:buNone/>
            </a:pPr>
            <a:r>
              <a:rPr lang="en-US" sz="1300" b="1" spc="200" kern="0" dirty="0">
                <a:solidFill>
                  <a:srgbClr val="4F9DA6"/>
                </a:solidFill>
                <a:latin typeface="Calibri" pitchFamily="34" charset="0"/>
                <a:ea typeface="Calibri" pitchFamily="34" charset="-122"/>
                <a:cs typeface="Calibri" pitchFamily="34" charset="-120"/>
              </a:rPr>
              <a:t>AJUSTE DEL HIPERPARÁMETRO</a:t>
            </a:r>
            <a:endParaRPr lang="en-US" sz="1300" dirty="0"/>
          </a:p>
        </p:txBody>
      </p:sp>
      <p:sp>
        <p:nvSpPr>
          <p:cNvPr id="3" name="Text 1"/>
          <p:cNvSpPr/>
          <p:nvPr/>
        </p:nvSpPr>
        <p:spPr>
          <a:xfrm>
            <a:off x="640080" y="685800"/>
            <a:ext cx="10881360" cy="731520"/>
          </a:xfrm>
          <a:prstGeom prst="rect">
            <a:avLst/>
          </a:prstGeom>
          <a:noFill/>
          <a:ln/>
        </p:spPr>
        <p:txBody>
          <a:bodyPr wrap="square" rtlCol="0" anchor="ctr"/>
          <a:lstStyle/>
          <a:p>
            <a:pPr indent="0" marL="0">
              <a:buNone/>
            </a:pPr>
            <a:r>
              <a:rPr lang="en-US" sz="3000" b="1" dirty="0">
                <a:solidFill>
                  <a:srgbClr val="1A2530"/>
                </a:solidFill>
                <a:latin typeface="Cambria" pitchFamily="34" charset="0"/>
                <a:ea typeface="Cambria" pitchFamily="34" charset="-122"/>
                <a:cs typeface="Cambria" pitchFamily="34" charset="-120"/>
              </a:rPr>
              <a:t>¿Por qué profundidad 8?</a:t>
            </a:r>
            <a:endParaRPr lang="en-US" sz="3000" dirty="0"/>
          </a:p>
        </p:txBody>
      </p:sp>
      <p:pic>
        <p:nvPicPr>
          <p:cNvPr id="4" name="Image 0" descr="./fig1_profundidad.png">    </p:cNvPr>
          <p:cNvPicPr>
            <a:picLocks noChangeAspect="1"/>
          </p:cNvPicPr>
          <p:nvPr/>
        </p:nvPicPr>
        <p:blipFill>
          <a:blip r:embed="rId1"/>
          <a:stretch>
            <a:fillRect/>
          </a:stretch>
        </p:blipFill>
        <p:spPr>
          <a:xfrm>
            <a:off x="640080" y="1600200"/>
            <a:ext cx="6858000" cy="3400661"/>
          </a:xfrm>
          <a:prstGeom prst="rect">
            <a:avLst/>
          </a:prstGeom>
        </p:spPr>
      </p:pic>
      <p:sp>
        <p:nvSpPr>
          <p:cNvPr id="5" name="Shape 2"/>
          <p:cNvSpPr/>
          <p:nvPr/>
        </p:nvSpPr>
        <p:spPr>
          <a:xfrm>
            <a:off x="640080" y="1600200"/>
            <a:ext cx="6858000" cy="3400661"/>
          </a:xfrm>
          <a:prstGeom prst="roundRect">
            <a:avLst>
              <a:gd name="adj" fmla="val 1613"/>
            </a:avLst>
          </a:prstGeom>
          <a:ln w="12700">
            <a:solidFill>
              <a:srgbClr val="D8DEE2"/>
            </a:solidFill>
            <a:prstDash val="solid"/>
          </a:ln>
        </p:spPr>
      </p:sp>
      <p:sp>
        <p:nvSpPr>
          <p:cNvPr id="6" name="Shape 3"/>
          <p:cNvSpPr/>
          <p:nvPr/>
        </p:nvSpPr>
        <p:spPr>
          <a:xfrm>
            <a:off x="7818120" y="1810512"/>
            <a:ext cx="128016" cy="128016"/>
          </a:xfrm>
          <a:prstGeom prst="ellipse">
            <a:avLst/>
          </a:prstGeom>
          <a:solidFill>
            <a:srgbClr val="0B4F6C"/>
          </a:solidFill>
          <a:ln/>
        </p:spPr>
      </p:sp>
      <p:sp>
        <p:nvSpPr>
          <p:cNvPr id="7" name="Text 4"/>
          <p:cNvSpPr/>
          <p:nvPr/>
        </p:nvSpPr>
        <p:spPr>
          <a:xfrm>
            <a:off x="8110728" y="1691640"/>
            <a:ext cx="3456432" cy="914400"/>
          </a:xfrm>
          <a:prstGeom prst="rect">
            <a:avLst/>
          </a:prstGeom>
          <a:noFill/>
          <a:ln/>
        </p:spPr>
        <p:txBody>
          <a:bodyPr wrap="square" rtlCol="0" anchor="ctr"/>
          <a:lstStyle/>
          <a:p>
            <a:pPr indent="0" marL="0">
              <a:lnSpc>
                <a:spcPct val="125000"/>
              </a:lnSpc>
              <a:buNone/>
            </a:pPr>
            <a:r>
              <a:rPr lang="en-US" sz="1350" dirty="0">
                <a:solidFill>
                  <a:srgbClr val="1A2530"/>
                </a:solidFill>
                <a:latin typeface="Calibri" pitchFamily="34" charset="0"/>
                <a:ea typeface="Calibri" pitchFamily="34" charset="-122"/>
                <a:cs typeface="Calibri" pitchFamily="34" charset="-120"/>
              </a:rPr>
              <a:t>En profundidad 8, entrenamiento y validación cruzada aún van juntas.</a:t>
            </a:r>
            <a:endParaRPr lang="en-US" sz="1350" dirty="0"/>
          </a:p>
        </p:txBody>
      </p:sp>
      <p:sp>
        <p:nvSpPr>
          <p:cNvPr id="8" name="Shape 5"/>
          <p:cNvSpPr/>
          <p:nvPr/>
        </p:nvSpPr>
        <p:spPr>
          <a:xfrm>
            <a:off x="7818120" y="2862072"/>
            <a:ext cx="128016" cy="128016"/>
          </a:xfrm>
          <a:prstGeom prst="ellipse">
            <a:avLst/>
          </a:prstGeom>
          <a:solidFill>
            <a:srgbClr val="0B4F6C"/>
          </a:solidFill>
          <a:ln/>
        </p:spPr>
      </p:sp>
      <p:sp>
        <p:nvSpPr>
          <p:cNvPr id="9" name="Text 6"/>
          <p:cNvSpPr/>
          <p:nvPr/>
        </p:nvSpPr>
        <p:spPr>
          <a:xfrm>
            <a:off x="8110728" y="2743200"/>
            <a:ext cx="3456432" cy="914400"/>
          </a:xfrm>
          <a:prstGeom prst="rect">
            <a:avLst/>
          </a:prstGeom>
          <a:noFill/>
          <a:ln/>
        </p:spPr>
        <p:txBody>
          <a:bodyPr wrap="square" rtlCol="0" anchor="ctr"/>
          <a:lstStyle/>
          <a:p>
            <a:pPr indent="0" marL="0">
              <a:lnSpc>
                <a:spcPct val="125000"/>
              </a:lnSpc>
              <a:buNone/>
            </a:pPr>
            <a:r>
              <a:rPr lang="en-US" sz="1350" dirty="0">
                <a:solidFill>
                  <a:srgbClr val="1A2530"/>
                </a:solidFill>
                <a:latin typeface="Calibri" pitchFamily="34" charset="0"/>
                <a:ea typeface="Calibri" pitchFamily="34" charset="-122"/>
                <a:cs typeface="Calibri" pitchFamily="34" charset="-120"/>
              </a:rPr>
              <a:t>En profundidad 9, el entrenamiento se dispara a 1.0 → memorización.</a:t>
            </a:r>
            <a:endParaRPr lang="en-US" sz="1350" dirty="0"/>
          </a:p>
        </p:txBody>
      </p:sp>
      <p:sp>
        <p:nvSpPr>
          <p:cNvPr id="10" name="Shape 7"/>
          <p:cNvSpPr/>
          <p:nvPr/>
        </p:nvSpPr>
        <p:spPr>
          <a:xfrm>
            <a:off x="7818120" y="3913632"/>
            <a:ext cx="128016" cy="128016"/>
          </a:xfrm>
          <a:prstGeom prst="ellipse">
            <a:avLst/>
          </a:prstGeom>
          <a:solidFill>
            <a:srgbClr val="0B4F6C"/>
          </a:solidFill>
          <a:ln/>
        </p:spPr>
      </p:sp>
      <p:sp>
        <p:nvSpPr>
          <p:cNvPr id="11" name="Text 8"/>
          <p:cNvSpPr/>
          <p:nvPr/>
        </p:nvSpPr>
        <p:spPr>
          <a:xfrm>
            <a:off x="8110728" y="3794760"/>
            <a:ext cx="3456432" cy="914400"/>
          </a:xfrm>
          <a:prstGeom prst="rect">
            <a:avLst/>
          </a:prstGeom>
          <a:noFill/>
          <a:ln/>
        </p:spPr>
        <p:txBody>
          <a:bodyPr wrap="square" rtlCol="0" anchor="ctr"/>
          <a:lstStyle/>
          <a:p>
            <a:pPr indent="0" marL="0">
              <a:lnSpc>
                <a:spcPct val="125000"/>
              </a:lnSpc>
              <a:buNone/>
            </a:pPr>
            <a:r>
              <a:rPr lang="en-US" sz="1350" dirty="0">
                <a:solidFill>
                  <a:srgbClr val="1A2530"/>
                </a:solidFill>
                <a:latin typeface="Calibri" pitchFamily="34" charset="0"/>
                <a:ea typeface="Calibri" pitchFamily="34" charset="-122"/>
                <a:cs typeface="Calibri" pitchFamily="34" charset="-120"/>
              </a:rPr>
              <a:t>La clase Grave (~0.3% de los casos) genera ruido estadístico en profundidades altas.</a:t>
            </a:r>
            <a:endParaRPr lang="en-US" sz="1350" dirty="0"/>
          </a:p>
        </p:txBody>
      </p:sp>
      <p:sp>
        <p:nvSpPr>
          <p:cNvPr id="12" name="Shape 9"/>
          <p:cNvSpPr/>
          <p:nvPr/>
        </p:nvSpPr>
        <p:spPr>
          <a:xfrm>
            <a:off x="7818120" y="4983480"/>
            <a:ext cx="3749040" cy="1005840"/>
          </a:xfrm>
          <a:prstGeom prst="roundRect">
            <a:avLst>
              <a:gd name="adj" fmla="val 7273"/>
            </a:avLst>
          </a:prstGeom>
          <a:solidFill>
            <a:srgbClr val="0B4F6C"/>
          </a:solidFill>
          <a:ln/>
        </p:spPr>
      </p:sp>
      <p:sp>
        <p:nvSpPr>
          <p:cNvPr id="13" name="Text 10"/>
          <p:cNvSpPr/>
          <p:nvPr/>
        </p:nvSpPr>
        <p:spPr>
          <a:xfrm>
            <a:off x="8046720" y="5093208"/>
            <a:ext cx="3291840" cy="822960"/>
          </a:xfrm>
          <a:prstGeom prst="rect">
            <a:avLst/>
          </a:prstGeom>
          <a:noFill/>
          <a:ln/>
        </p:spPr>
        <p:txBody>
          <a:bodyPr wrap="square" rtlCol="0" anchor="ctr"/>
          <a:lstStyle/>
          <a:p>
            <a:pPr indent="0" marL="0">
              <a:lnSpc>
                <a:spcPct val="130000"/>
              </a:lnSpc>
              <a:buNone/>
            </a:pPr>
            <a:r>
              <a:rPr lang="en-US" sz="1200" dirty="0">
                <a:solidFill>
                  <a:srgbClr val="CFE3EA"/>
                </a:solidFill>
                <a:latin typeface="Calibri" pitchFamily="34" charset="0"/>
                <a:ea typeface="Calibri" pitchFamily="34" charset="-122"/>
                <a:cs typeface="Calibri" pitchFamily="34" charset="-120"/>
              </a:rPr>
              <a:t>Máximo teórico (CV): 13   </a:t>
            </a:r>
            <a:pPr indent="0" marL="0">
              <a:lnSpc>
                <a:spcPct val="130000"/>
              </a:lnSpc>
              <a:buNone/>
            </a:pPr>
            <a:endParaRPr lang="en-US" sz="1200" dirty="0"/>
          </a:p>
          <a:p>
            <a:pPr indent="0" marL="0">
              <a:lnSpc>
                <a:spcPct val="130000"/>
              </a:lnSpc>
              <a:buNone/>
            </a:pPr>
            <a:r>
              <a:rPr lang="en-US" sz="1600" b="1" dirty="0">
                <a:solidFill>
                  <a:srgbClr val="FFFFFF"/>
                </a:solidFill>
                <a:latin typeface="Calibri" pitchFamily="34" charset="0"/>
                <a:ea typeface="Calibri" pitchFamily="34" charset="-122"/>
                <a:cs typeface="Calibri" pitchFamily="34" charset="-120"/>
              </a:rPr>
              <a:t>Elegimos: max_depth = 8</a:t>
            </a:r>
            <a:endParaRPr lang="en-US" sz="1200" dirty="0"/>
          </a:p>
        </p:txBody>
      </p:sp>
      <p:sp>
        <p:nvSpPr>
          <p:cNvPr id="15" name="Text 11"/>
          <p:cNvSpPr/>
          <p:nvPr/>
        </p:nvSpPr>
        <p:spPr>
          <a:xfrm>
            <a:off x="11185855" y="6446520"/>
            <a:ext cx="82296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4 / 8</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7315200" cy="320040"/>
          </a:xfrm>
          <a:prstGeom prst="rect">
            <a:avLst/>
          </a:prstGeom>
          <a:noFill/>
          <a:ln/>
        </p:spPr>
        <p:txBody>
          <a:bodyPr wrap="square" rtlCol="0" anchor="ctr"/>
          <a:lstStyle/>
          <a:p>
            <a:pPr indent="0" marL="0">
              <a:buNone/>
            </a:pPr>
            <a:r>
              <a:rPr lang="en-US" sz="1300" b="1" spc="200" kern="0" dirty="0">
                <a:solidFill>
                  <a:srgbClr val="4F9DA6"/>
                </a:solidFill>
                <a:latin typeface="Calibri" pitchFamily="34" charset="0"/>
                <a:ea typeface="Calibri" pitchFamily="34" charset="-122"/>
                <a:cs typeface="Calibri" pitchFamily="34" charset="-120"/>
              </a:rPr>
              <a:t>EL MODELO ENTRENADO</a:t>
            </a:r>
            <a:endParaRPr lang="en-US" sz="1300" dirty="0"/>
          </a:p>
        </p:txBody>
      </p:sp>
      <p:sp>
        <p:nvSpPr>
          <p:cNvPr id="3" name="Text 1"/>
          <p:cNvSpPr/>
          <p:nvPr/>
        </p:nvSpPr>
        <p:spPr>
          <a:xfrm>
            <a:off x="640080" y="685800"/>
            <a:ext cx="10881360" cy="731520"/>
          </a:xfrm>
          <a:prstGeom prst="rect">
            <a:avLst/>
          </a:prstGeom>
          <a:noFill/>
          <a:ln/>
        </p:spPr>
        <p:txBody>
          <a:bodyPr wrap="square" rtlCol="0" anchor="ctr"/>
          <a:lstStyle/>
          <a:p>
            <a:pPr indent="0" marL="0">
              <a:buNone/>
            </a:pPr>
            <a:r>
              <a:rPr lang="en-US" sz="3000" b="1" dirty="0">
                <a:solidFill>
                  <a:srgbClr val="1A2530"/>
                </a:solidFill>
                <a:latin typeface="Cambria" pitchFamily="34" charset="0"/>
                <a:ea typeface="Cambria" pitchFamily="34" charset="-122"/>
                <a:cs typeface="Cambria" pitchFamily="34" charset="-120"/>
              </a:rPr>
              <a:t>El árbol como herramienta de triage</a:t>
            </a:r>
            <a:endParaRPr lang="en-US" sz="3000" dirty="0"/>
          </a:p>
        </p:txBody>
      </p:sp>
      <p:pic>
        <p:nvPicPr>
          <p:cNvPr id="4" name="Image 0" descr="./fig2_arbol.png">    </p:cNvPr>
          <p:cNvPicPr>
            <a:picLocks noChangeAspect="1"/>
          </p:cNvPicPr>
          <p:nvPr/>
        </p:nvPicPr>
        <p:blipFill>
          <a:blip r:embed="rId1"/>
          <a:stretch>
            <a:fillRect/>
          </a:stretch>
        </p:blipFill>
        <p:spPr>
          <a:xfrm>
            <a:off x="457200" y="1783080"/>
            <a:ext cx="7589520" cy="3430879"/>
          </a:xfrm>
          <a:prstGeom prst="rect">
            <a:avLst/>
          </a:prstGeom>
        </p:spPr>
      </p:pic>
      <p:sp>
        <p:nvSpPr>
          <p:cNvPr id="5" name="Shape 2"/>
          <p:cNvSpPr/>
          <p:nvPr/>
        </p:nvSpPr>
        <p:spPr>
          <a:xfrm>
            <a:off x="4403750" y="2057550"/>
            <a:ext cx="3963010" cy="251310"/>
          </a:xfrm>
          <a:prstGeom prst="line">
            <a:avLst/>
          </a:prstGeom>
          <a:noFill/>
          <a:ln w="19050">
            <a:solidFill>
              <a:srgbClr val="0B2942"/>
            </a:solidFill>
            <a:prstDash val="dash"/>
          </a:ln>
        </p:spPr>
      </p:sp>
      <p:sp>
        <p:nvSpPr>
          <p:cNvPr id="6" name="Shape 3"/>
          <p:cNvSpPr/>
          <p:nvPr/>
        </p:nvSpPr>
        <p:spPr>
          <a:xfrm>
            <a:off x="8366760" y="1783080"/>
            <a:ext cx="3246120" cy="1051560"/>
          </a:xfrm>
          <a:prstGeom prst="roundRect">
            <a:avLst>
              <a:gd name="adj" fmla="val 6957"/>
            </a:avLst>
          </a:prstGeom>
          <a:solidFill>
            <a:srgbClr val="0B2942"/>
          </a:solidFill>
          <a:ln/>
          <a:effectLst>
            <a:outerShdw sx="100000" sy="100000" kx="0" ky="0" algn="bl" rotWithShape="0" blurRad="63500" dist="25400" dir="5400000">
              <a:srgbClr val="666666">
                <a:alpha val="30000"/>
              </a:srgbClr>
            </a:outerShdw>
          </a:effectLst>
        </p:spPr>
      </p:sp>
      <p:sp>
        <p:nvSpPr>
          <p:cNvPr id="7" name="Text 4"/>
          <p:cNvSpPr/>
          <p:nvPr/>
        </p:nvSpPr>
        <p:spPr>
          <a:xfrm>
            <a:off x="8595360" y="1783080"/>
            <a:ext cx="2788920" cy="1051560"/>
          </a:xfrm>
          <a:prstGeom prst="rect">
            <a:avLst/>
          </a:prstGeom>
          <a:noFill/>
          <a:ln/>
        </p:spPr>
        <p:txBody>
          <a:bodyPr wrap="square" rtlCol="0" anchor="ctr"/>
          <a:lstStyle/>
          <a:p>
            <a:pPr indent="0" marL="0">
              <a:lnSpc>
                <a:spcPct val="120000"/>
              </a:lnSpc>
              <a:buNone/>
            </a:pPr>
            <a:r>
              <a:rPr lang="en-US" sz="1350" b="1" dirty="0">
                <a:solidFill>
                  <a:srgbClr val="FFFFFF"/>
                </a:solidFill>
                <a:latin typeface="Calibri" pitchFamily="34" charset="0"/>
                <a:ea typeface="Calibri" pitchFamily="34" charset="-122"/>
                <a:cs typeface="Calibri" pitchFamily="34" charset="-120"/>
              </a:rPr>
              <a:t>Nodo raíz: caida_plaq</a:t>
            </a:r>
            <a:endParaRPr lang="en-US" sz="1350" dirty="0"/>
          </a:p>
          <a:p>
            <a:pPr indent="0" marL="0">
              <a:lnSpc>
                <a:spcPct val="120000"/>
              </a:lnSpc>
              <a:buNone/>
            </a:pPr>
            <a:r>
              <a:rPr lang="en-US" sz="1100" dirty="0">
                <a:solidFill>
                  <a:srgbClr val="CFE3EA"/>
                </a:solidFill>
                <a:latin typeface="Calibri" pitchFamily="34" charset="0"/>
                <a:ea typeface="Calibri" pitchFamily="34" charset="-122"/>
                <a:cs typeface="Calibri" pitchFamily="34" charset="-120"/>
              </a:rPr>
              <a:t>Trombocitopenia = signo de alarma clásico (OMS)</a:t>
            </a:r>
            <a:endParaRPr lang="en-US" sz="1350" dirty="0"/>
          </a:p>
        </p:txBody>
      </p:sp>
      <p:sp>
        <p:nvSpPr>
          <p:cNvPr id="8" name="Text 5"/>
          <p:cNvSpPr/>
          <p:nvPr/>
        </p:nvSpPr>
        <p:spPr>
          <a:xfrm>
            <a:off x="8366760" y="3200400"/>
            <a:ext cx="3246120" cy="1463040"/>
          </a:xfrm>
          <a:prstGeom prst="rect">
            <a:avLst/>
          </a:prstGeom>
          <a:noFill/>
          <a:ln/>
        </p:spPr>
        <p:txBody>
          <a:bodyPr wrap="square" rtlCol="0" anchor="t"/>
          <a:lstStyle/>
          <a:p>
            <a:pPr indent="0" marL="0">
              <a:lnSpc>
                <a:spcPct val="130000"/>
              </a:lnSpc>
              <a:buNone/>
            </a:pPr>
            <a:r>
              <a:rPr lang="en-US" sz="1350" b="1" dirty="0">
                <a:solidFill>
                  <a:srgbClr val="1A2530"/>
                </a:solidFill>
                <a:latin typeface="Calibri" pitchFamily="34" charset="0"/>
                <a:ea typeface="Calibri" pitchFamily="34" charset="-122"/>
                <a:cs typeface="Calibri" pitchFamily="34" charset="-120"/>
              </a:rPr>
              <a:t>20 síntomas + demografía → clasificación de severidad</a:t>
            </a:r>
            <a:endParaRPr lang="en-US" sz="1350" dirty="0"/>
          </a:p>
          <a:p>
            <a:pPr indent="0" marL="0">
              <a:lnSpc>
                <a:spcPct val="130000"/>
              </a:lnSpc>
              <a:buNone/>
            </a:pPr>
            <a:r>
              <a:rPr lang="en-US" sz="1250" dirty="0">
                <a:solidFill>
                  <a:srgbClr val="6B7280"/>
                </a:solidFill>
                <a:latin typeface="Calibri" pitchFamily="34" charset="0"/>
                <a:ea typeface="Calibri" pitchFamily="34" charset="-122"/>
                <a:cs typeface="Calibri" pitchFamily="34" charset="-120"/>
              </a:rPr>
              <a:t>Cada rama es una pregunta clínica explícita y verificable — no una caja negra.</a:t>
            </a:r>
            <a:endParaRPr lang="en-US" sz="1350" dirty="0"/>
          </a:p>
        </p:txBody>
      </p:sp>
      <p:sp>
        <p:nvSpPr>
          <p:cNvPr id="9" name="Text 6"/>
          <p:cNvSpPr/>
          <p:nvPr/>
        </p:nvSpPr>
        <p:spPr>
          <a:xfrm>
            <a:off x="640080" y="6172200"/>
            <a:ext cx="10881360" cy="502920"/>
          </a:xfrm>
          <a:prstGeom prst="rect">
            <a:avLst/>
          </a:prstGeom>
          <a:noFill/>
          <a:ln/>
        </p:spPr>
        <p:txBody>
          <a:bodyPr wrap="square"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Primeras tres capas de ocho. La secuencia caída de plaquetas → mialgias → dolor abdominal es coherente con las guías clínicas de dengue grave.</a:t>
            </a:r>
            <a:endParaRPr lang="en-US" sz="1300" dirty="0"/>
          </a:p>
        </p:txBody>
      </p:sp>
      <p:sp>
        <p:nvSpPr>
          <p:cNvPr id="11" name="Text 7"/>
          <p:cNvSpPr/>
          <p:nvPr/>
        </p:nvSpPr>
        <p:spPr>
          <a:xfrm>
            <a:off x="11185855" y="6446520"/>
            <a:ext cx="82296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5 / 8</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7315200" cy="320040"/>
          </a:xfrm>
          <a:prstGeom prst="rect">
            <a:avLst/>
          </a:prstGeom>
          <a:noFill/>
          <a:ln/>
        </p:spPr>
        <p:txBody>
          <a:bodyPr wrap="square" rtlCol="0" anchor="ctr"/>
          <a:lstStyle/>
          <a:p>
            <a:pPr indent="0" marL="0">
              <a:buNone/>
            </a:pPr>
            <a:r>
              <a:rPr lang="en-US" sz="1300" b="1" spc="200" kern="0" dirty="0">
                <a:solidFill>
                  <a:srgbClr val="4F9DA6"/>
                </a:solidFill>
                <a:latin typeface="Calibri" pitchFamily="34" charset="0"/>
                <a:ea typeface="Calibri" pitchFamily="34" charset="-122"/>
                <a:cs typeface="Calibri" pitchFamily="34" charset="-120"/>
              </a:rPr>
              <a:t>DESEMPEÑO DEL MODELO</a:t>
            </a:r>
            <a:endParaRPr lang="en-US" sz="1300" dirty="0"/>
          </a:p>
        </p:txBody>
      </p:sp>
      <p:sp>
        <p:nvSpPr>
          <p:cNvPr id="3" name="Text 1"/>
          <p:cNvSpPr/>
          <p:nvPr/>
        </p:nvSpPr>
        <p:spPr>
          <a:xfrm>
            <a:off x="640080" y="685800"/>
            <a:ext cx="10881360" cy="731520"/>
          </a:xfrm>
          <a:prstGeom prst="rect">
            <a:avLst/>
          </a:prstGeom>
          <a:noFill/>
          <a:ln/>
        </p:spPr>
        <p:txBody>
          <a:bodyPr wrap="square" rtlCol="0" anchor="ctr"/>
          <a:lstStyle/>
          <a:p>
            <a:pPr indent="0" marL="0">
              <a:buNone/>
            </a:pPr>
            <a:r>
              <a:rPr lang="en-US" sz="3000" b="1" dirty="0">
                <a:solidFill>
                  <a:srgbClr val="1A2530"/>
                </a:solidFill>
                <a:latin typeface="Cambria" pitchFamily="34" charset="0"/>
                <a:ea typeface="Cambria" pitchFamily="34" charset="-122"/>
                <a:cs typeface="Cambria" pitchFamily="34" charset="-120"/>
              </a:rPr>
              <a:t>Resultados sobre el conjunto de prueba</a:t>
            </a:r>
            <a:endParaRPr lang="en-US" sz="3000" dirty="0"/>
          </a:p>
        </p:txBody>
      </p:sp>
      <p:sp>
        <p:nvSpPr>
          <p:cNvPr id="4" name="Text 2"/>
          <p:cNvSpPr/>
          <p:nvPr/>
        </p:nvSpPr>
        <p:spPr>
          <a:xfrm>
            <a:off x="640080" y="1691640"/>
            <a:ext cx="3291840" cy="777240"/>
          </a:xfrm>
          <a:prstGeom prst="rect">
            <a:avLst/>
          </a:prstGeom>
          <a:noFill/>
          <a:ln/>
        </p:spPr>
        <p:txBody>
          <a:bodyPr wrap="square" rtlCol="0" anchor="ctr"/>
          <a:lstStyle/>
          <a:p>
            <a:pPr indent="0" marL="0">
              <a:buNone/>
            </a:pPr>
            <a:r>
              <a:rPr lang="en-US" sz="4200" b="1" dirty="0">
                <a:solidFill>
                  <a:srgbClr val="6B7280"/>
                </a:solidFill>
                <a:latin typeface="Cambria" pitchFamily="34" charset="0"/>
                <a:ea typeface="Cambria" pitchFamily="34" charset="-122"/>
                <a:cs typeface="Cambria" pitchFamily="34" charset="-120"/>
              </a:rPr>
              <a:t>95.8%</a:t>
            </a:r>
            <a:endParaRPr lang="en-US" sz="4200" dirty="0"/>
          </a:p>
        </p:txBody>
      </p:sp>
      <p:sp>
        <p:nvSpPr>
          <p:cNvPr id="5" name="Text 3"/>
          <p:cNvSpPr/>
          <p:nvPr/>
        </p:nvSpPr>
        <p:spPr>
          <a:xfrm>
            <a:off x="640080" y="2423160"/>
            <a:ext cx="3291840" cy="548640"/>
          </a:xfrm>
          <a:prstGeom prst="rect">
            <a:avLst/>
          </a:prstGeom>
          <a:noFill/>
          <a:ln/>
        </p:spPr>
        <p:txBody>
          <a:bodyPr wrap="square" rtlCol="0" anchor="ctr"/>
          <a:lstStyle/>
          <a:p>
            <a:pPr indent="0" marL="0">
              <a:buNone/>
            </a:pPr>
            <a:r>
              <a:rPr lang="en-US" sz="1150" i="1" dirty="0">
                <a:solidFill>
                  <a:srgbClr val="6B7280"/>
                </a:solidFill>
                <a:latin typeface="Calibri" pitchFamily="34" charset="0"/>
                <a:ea typeface="Calibri" pitchFamily="34" charset="-122"/>
                <a:cs typeface="Calibri" pitchFamily="34" charset="-120"/>
              </a:rPr>
              <a:t>Exactitud global — engañosa por el desbalance de clases</a:t>
            </a:r>
            <a:endParaRPr lang="en-US" sz="1150" dirty="0"/>
          </a:p>
        </p:txBody>
      </p:sp>
      <p:sp>
        <p:nvSpPr>
          <p:cNvPr id="6" name="Text 4"/>
          <p:cNvSpPr/>
          <p:nvPr/>
        </p:nvSpPr>
        <p:spPr>
          <a:xfrm>
            <a:off x="640080" y="3063240"/>
            <a:ext cx="3291840" cy="914400"/>
          </a:xfrm>
          <a:prstGeom prst="rect">
            <a:avLst/>
          </a:prstGeom>
          <a:noFill/>
          <a:ln/>
        </p:spPr>
        <p:txBody>
          <a:bodyPr wrap="square" rtlCol="0" anchor="ctr"/>
          <a:lstStyle/>
          <a:p>
            <a:pPr indent="0" marL="0">
              <a:buNone/>
            </a:pPr>
            <a:r>
              <a:rPr lang="en-US" sz="5800" b="1" dirty="0">
                <a:solidFill>
                  <a:srgbClr val="2E7D32"/>
                </a:solidFill>
                <a:latin typeface="Cambria" pitchFamily="34" charset="0"/>
                <a:ea typeface="Cambria" pitchFamily="34" charset="-122"/>
                <a:cs typeface="Cambria" pitchFamily="34" charset="-120"/>
              </a:rPr>
              <a:t>0.660</a:t>
            </a:r>
            <a:endParaRPr lang="en-US" sz="5800" dirty="0"/>
          </a:p>
        </p:txBody>
      </p:sp>
      <p:sp>
        <p:nvSpPr>
          <p:cNvPr id="7" name="Text 5"/>
          <p:cNvSpPr/>
          <p:nvPr/>
        </p:nvSpPr>
        <p:spPr>
          <a:xfrm>
            <a:off x="640080" y="3977640"/>
            <a:ext cx="3291840" cy="365760"/>
          </a:xfrm>
          <a:prstGeom prst="rect">
            <a:avLst/>
          </a:prstGeom>
          <a:noFill/>
          <a:ln/>
        </p:spPr>
        <p:txBody>
          <a:bodyPr wrap="square" rtlCol="0" anchor="ctr"/>
          <a:lstStyle/>
          <a:p>
            <a:pPr indent="0" marL="0">
              <a:buNone/>
            </a:pPr>
            <a:r>
              <a:rPr lang="en-US" sz="1300" b="1" dirty="0">
                <a:solidFill>
                  <a:srgbClr val="1A2530"/>
                </a:solidFill>
                <a:latin typeface="Calibri" pitchFamily="34" charset="0"/>
                <a:ea typeface="Calibri" pitchFamily="34" charset="-122"/>
                <a:cs typeface="Calibri" pitchFamily="34" charset="-120"/>
              </a:rPr>
              <a:t>F1-macro — nuestra métrica guía</a:t>
            </a:r>
            <a:endParaRPr lang="en-US" sz="1300" dirty="0"/>
          </a:p>
        </p:txBody>
      </p:sp>
      <p:pic>
        <p:nvPicPr>
          <p:cNvPr id="8" name="Image 0" descr="./fig3_confusion.png">    </p:cNvPr>
          <p:cNvPicPr>
            <a:picLocks noChangeAspect="1"/>
          </p:cNvPicPr>
          <p:nvPr/>
        </p:nvPicPr>
        <p:blipFill>
          <a:blip r:embed="rId1"/>
          <a:stretch>
            <a:fillRect/>
          </a:stretch>
        </p:blipFill>
        <p:spPr>
          <a:xfrm>
            <a:off x="4343400" y="1600200"/>
            <a:ext cx="4206240" cy="3417570"/>
          </a:xfrm>
          <a:prstGeom prst="rect">
            <a:avLst/>
          </a:prstGeom>
        </p:spPr>
      </p:pic>
      <p:sp>
        <p:nvSpPr>
          <p:cNvPr id="9" name="Shape 6"/>
          <p:cNvSpPr/>
          <p:nvPr/>
        </p:nvSpPr>
        <p:spPr>
          <a:xfrm>
            <a:off x="4343400" y="1600200"/>
            <a:ext cx="4206240" cy="3417570"/>
          </a:xfrm>
          <a:prstGeom prst="roundRect">
            <a:avLst>
              <a:gd name="adj" fmla="val 1605"/>
            </a:avLst>
          </a:prstGeom>
          <a:ln w="12700">
            <a:solidFill>
              <a:srgbClr val="D8DEE2"/>
            </a:solidFill>
            <a:prstDash val="solid"/>
          </a:ln>
        </p:spPr>
      </p:sp>
      <p:sp>
        <p:nvSpPr>
          <p:cNvPr id="10" name="Shape 7"/>
          <p:cNvSpPr/>
          <p:nvPr/>
        </p:nvSpPr>
        <p:spPr>
          <a:xfrm>
            <a:off x="8869680" y="1600200"/>
            <a:ext cx="2743200" cy="3566160"/>
          </a:xfrm>
          <a:prstGeom prst="roundRect">
            <a:avLst>
              <a:gd name="adj" fmla="val 3333"/>
            </a:avLst>
          </a:prstGeom>
          <a:solidFill>
            <a:srgbClr val="FBEAEA"/>
          </a:solidFill>
          <a:ln w="13970">
            <a:solidFill>
              <a:srgbClr val="C1272D"/>
            </a:solidFill>
            <a:prstDash val="solid"/>
          </a:ln>
        </p:spPr>
      </p:sp>
      <p:sp>
        <p:nvSpPr>
          <p:cNvPr id="11" name="Text 8"/>
          <p:cNvSpPr/>
          <p:nvPr/>
        </p:nvSpPr>
        <p:spPr>
          <a:xfrm>
            <a:off x="9098280" y="1828800"/>
            <a:ext cx="2286000" cy="594360"/>
          </a:xfrm>
          <a:prstGeom prst="rect">
            <a:avLst/>
          </a:prstGeom>
          <a:noFill/>
          <a:ln/>
        </p:spPr>
        <p:txBody>
          <a:bodyPr wrap="square" rtlCol="0" anchor="ctr"/>
          <a:lstStyle/>
          <a:p>
            <a:pPr indent="0" marL="0">
              <a:buNone/>
            </a:pPr>
            <a:r>
              <a:rPr lang="en-US" sz="1600" b="1" dirty="0">
                <a:solidFill>
                  <a:srgbClr val="C1272D"/>
                </a:solidFill>
                <a:latin typeface="Cambria" pitchFamily="34" charset="0"/>
                <a:ea typeface="Cambria" pitchFamily="34" charset="-122"/>
                <a:cs typeface="Cambria" pitchFamily="34" charset="-120"/>
              </a:rPr>
              <a:t>Grave: 1 / 5 detectados</a:t>
            </a:r>
            <a:endParaRPr lang="en-US" sz="1600" dirty="0"/>
          </a:p>
        </p:txBody>
      </p:sp>
      <p:sp>
        <p:nvSpPr>
          <p:cNvPr id="12" name="Text 9"/>
          <p:cNvSpPr/>
          <p:nvPr/>
        </p:nvSpPr>
        <p:spPr>
          <a:xfrm>
            <a:off x="9098280" y="2468880"/>
            <a:ext cx="2286000" cy="914400"/>
          </a:xfrm>
          <a:prstGeom prst="rect">
            <a:avLst/>
          </a:prstGeom>
          <a:noFill/>
          <a:ln/>
        </p:spPr>
        <p:txBody>
          <a:bodyPr wrap="square" rtlCol="0" anchor="ctr"/>
          <a:lstStyle/>
          <a:p>
            <a:pPr indent="0" marL="0">
              <a:lnSpc>
                <a:spcPct val="125000"/>
              </a:lnSpc>
              <a:buNone/>
            </a:pPr>
            <a:r>
              <a:rPr lang="en-US" sz="1250" dirty="0">
                <a:solidFill>
                  <a:srgbClr val="1A2530"/>
                </a:solidFill>
                <a:latin typeface="Calibri" pitchFamily="34" charset="0"/>
                <a:ea typeface="Calibri" pitchFamily="34" charset="-122"/>
                <a:cs typeface="Calibri" pitchFamily="34" charset="-120"/>
              </a:rPr>
              <a:t>Los 4 restantes fueron a "Con alarma", nunca a "Sin alarma".</a:t>
            </a:r>
            <a:endParaRPr lang="en-US" sz="1250" dirty="0"/>
          </a:p>
        </p:txBody>
      </p:sp>
      <p:sp>
        <p:nvSpPr>
          <p:cNvPr id="13" name="Shape 10"/>
          <p:cNvSpPr/>
          <p:nvPr/>
        </p:nvSpPr>
        <p:spPr>
          <a:xfrm>
            <a:off x="9098280" y="3474720"/>
            <a:ext cx="2286000" cy="0"/>
          </a:xfrm>
          <a:prstGeom prst="line">
            <a:avLst/>
          </a:prstGeom>
          <a:noFill/>
          <a:ln w="9525">
            <a:solidFill>
              <a:srgbClr val="C1272D"/>
            </a:solidFill>
            <a:prstDash val="dash"/>
          </a:ln>
        </p:spPr>
      </p:sp>
      <p:sp>
        <p:nvSpPr>
          <p:cNvPr id="14" name="Text 11"/>
          <p:cNvSpPr/>
          <p:nvPr/>
        </p:nvSpPr>
        <p:spPr>
          <a:xfrm>
            <a:off x="9098280" y="3611880"/>
            <a:ext cx="2286000" cy="1371600"/>
          </a:xfrm>
          <a:prstGeom prst="rect">
            <a:avLst/>
          </a:prstGeom>
          <a:noFill/>
          <a:ln/>
        </p:spPr>
        <p:txBody>
          <a:bodyPr wrap="square" rtlCol="0" anchor="ctr"/>
          <a:lstStyle/>
          <a:p>
            <a:pPr indent="0" marL="0">
              <a:lnSpc>
                <a:spcPct val="125000"/>
              </a:lnSpc>
              <a:buNone/>
            </a:pPr>
            <a:r>
              <a:rPr lang="en-US" sz="1250" b="1" dirty="0">
                <a:solidFill>
                  <a:srgbClr val="1A2530"/>
                </a:solidFill>
                <a:latin typeface="Calibri" pitchFamily="34" charset="0"/>
                <a:ea typeface="Calibri" pitchFamily="34" charset="-122"/>
                <a:cs typeface="Calibri" pitchFamily="34" charset="-120"/>
              </a:rPr>
              <a:t>Desde la seguridad clínica, es aceptable: ningún paciente grave se va dado de alta.</a:t>
            </a:r>
            <a:endParaRPr lang="en-US" sz="1250" dirty="0"/>
          </a:p>
        </p:txBody>
      </p:sp>
      <p:sp>
        <p:nvSpPr>
          <p:cNvPr id="16" name="Text 12"/>
          <p:cNvSpPr/>
          <p:nvPr/>
        </p:nvSpPr>
        <p:spPr>
          <a:xfrm>
            <a:off x="11185855" y="6446520"/>
            <a:ext cx="82296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6 / 8</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7315200" cy="320040"/>
          </a:xfrm>
          <a:prstGeom prst="rect">
            <a:avLst/>
          </a:prstGeom>
          <a:noFill/>
          <a:ln/>
        </p:spPr>
        <p:txBody>
          <a:bodyPr wrap="square" rtlCol="0" anchor="ctr"/>
          <a:lstStyle/>
          <a:p>
            <a:pPr indent="0" marL="0">
              <a:buNone/>
            </a:pPr>
            <a:r>
              <a:rPr lang="en-US" sz="1300" b="1" spc="200" kern="0" dirty="0">
                <a:solidFill>
                  <a:srgbClr val="4F9DA6"/>
                </a:solidFill>
                <a:latin typeface="Calibri" pitchFamily="34" charset="0"/>
                <a:ea typeface="Calibri" pitchFamily="34" charset="-122"/>
                <a:cs typeface="Calibri" pitchFamily="34" charset="-120"/>
              </a:rPr>
              <a:t>EVALUACIÓN ÉTICA</a:t>
            </a:r>
            <a:endParaRPr lang="en-US" sz="1300" dirty="0"/>
          </a:p>
        </p:txBody>
      </p:sp>
      <p:sp>
        <p:nvSpPr>
          <p:cNvPr id="3" name="Text 1"/>
          <p:cNvSpPr/>
          <p:nvPr/>
        </p:nvSpPr>
        <p:spPr>
          <a:xfrm>
            <a:off x="640080" y="685800"/>
            <a:ext cx="10881360" cy="731520"/>
          </a:xfrm>
          <a:prstGeom prst="rect">
            <a:avLst/>
          </a:prstGeom>
          <a:noFill/>
          <a:ln/>
        </p:spPr>
        <p:txBody>
          <a:bodyPr wrap="square" rtlCol="0" anchor="ctr"/>
          <a:lstStyle/>
          <a:p>
            <a:pPr indent="0" marL="0">
              <a:buNone/>
            </a:pPr>
            <a:r>
              <a:rPr lang="en-US" sz="3000" b="1" dirty="0">
                <a:solidFill>
                  <a:srgbClr val="1A2530"/>
                </a:solidFill>
                <a:latin typeface="Cambria" pitchFamily="34" charset="0"/>
                <a:ea typeface="Cambria" pitchFamily="34" charset="-122"/>
                <a:cs typeface="Cambria" pitchFamily="34" charset="-120"/>
              </a:rPr>
              <a:t>Equidad: el sesgo del sistema</a:t>
            </a:r>
            <a:endParaRPr lang="en-US" sz="3000" dirty="0"/>
          </a:p>
        </p:txBody>
      </p:sp>
      <p:sp>
        <p:nvSpPr>
          <p:cNvPr id="4" name="Text 2"/>
          <p:cNvSpPr/>
          <p:nvPr/>
        </p:nvSpPr>
        <p:spPr>
          <a:xfrm>
            <a:off x="640080" y="1371600"/>
            <a:ext cx="10881360" cy="365760"/>
          </a:xfrm>
          <a:prstGeom prst="rect">
            <a:avLst/>
          </a:prstGeom>
          <a:noFill/>
          <a:ln/>
        </p:spPr>
        <p:txBody>
          <a:bodyPr wrap="square"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El estrato socioeconómico participa en el árbol (importancia ≈ 0.03)</a:t>
            </a:r>
            <a:endParaRPr lang="en-US" sz="1400" dirty="0"/>
          </a:p>
        </p:txBody>
      </p:sp>
      <p:pic>
        <p:nvPicPr>
          <p:cNvPr id="5" name="Image 0" descr="./fig5_equidad.png">    </p:cNvPr>
          <p:cNvPicPr>
            <a:picLocks noChangeAspect="1"/>
          </p:cNvPicPr>
          <p:nvPr/>
        </p:nvPicPr>
        <p:blipFill>
          <a:blip r:embed="rId1"/>
          <a:stretch>
            <a:fillRect/>
          </a:stretch>
        </p:blipFill>
        <p:spPr>
          <a:xfrm>
            <a:off x="640080" y="1874520"/>
            <a:ext cx="6126480" cy="3376800"/>
          </a:xfrm>
          <a:prstGeom prst="rect">
            <a:avLst/>
          </a:prstGeom>
        </p:spPr>
      </p:pic>
      <p:sp>
        <p:nvSpPr>
          <p:cNvPr id="6" name="Shape 3"/>
          <p:cNvSpPr/>
          <p:nvPr/>
        </p:nvSpPr>
        <p:spPr>
          <a:xfrm>
            <a:off x="640080" y="1874520"/>
            <a:ext cx="6126480" cy="3376800"/>
          </a:xfrm>
          <a:prstGeom prst="roundRect">
            <a:avLst>
              <a:gd name="adj" fmla="val 1625"/>
            </a:avLst>
          </a:prstGeom>
          <a:ln w="12700">
            <a:solidFill>
              <a:srgbClr val="D8DEE2"/>
            </a:solidFill>
            <a:prstDash val="solid"/>
          </a:ln>
        </p:spPr>
      </p:sp>
      <p:sp>
        <p:nvSpPr>
          <p:cNvPr id="7" name="Text 4"/>
          <p:cNvSpPr/>
          <p:nvPr/>
        </p:nvSpPr>
        <p:spPr>
          <a:xfrm>
            <a:off x="7132320" y="1874520"/>
            <a:ext cx="4434840" cy="274320"/>
          </a:xfrm>
          <a:prstGeom prst="rect">
            <a:avLst/>
          </a:prstGeom>
          <a:noFill/>
          <a:ln/>
        </p:spPr>
        <p:txBody>
          <a:bodyPr wrap="square" rtlCol="0" anchor="ctr"/>
          <a:lstStyle/>
          <a:p>
            <a:pPr indent="0" marL="0">
              <a:buNone/>
            </a:pPr>
            <a:r>
              <a:rPr lang="en-US" sz="1200" b="1" spc="100" kern="0" dirty="0">
                <a:solidFill>
                  <a:srgbClr val="0B4F6C"/>
                </a:solidFill>
                <a:latin typeface="Calibri" pitchFamily="34" charset="0"/>
                <a:ea typeface="Calibri" pitchFamily="34" charset="-122"/>
                <a:cs typeface="Calibri" pitchFamily="34" charset="-120"/>
              </a:rPr>
              <a:t>ESTRATO REPORTADO, POR CLASE</a:t>
            </a:r>
            <a:endParaRPr lang="en-US" sz="1200" dirty="0"/>
          </a:p>
        </p:txBody>
      </p:sp>
      <p:sp>
        <p:nvSpPr>
          <p:cNvPr id="8" name="Shape 5"/>
          <p:cNvSpPr/>
          <p:nvPr/>
        </p:nvSpPr>
        <p:spPr>
          <a:xfrm>
            <a:off x="7132320" y="2240280"/>
            <a:ext cx="4434840" cy="658368"/>
          </a:xfrm>
          <a:prstGeom prst="roundRect">
            <a:avLst>
              <a:gd name="adj" fmla="val 9722"/>
            </a:avLst>
          </a:prstGeom>
          <a:solidFill>
            <a:srgbClr val="F3F6F7"/>
          </a:solidFill>
          <a:ln/>
        </p:spPr>
      </p:sp>
      <p:sp>
        <p:nvSpPr>
          <p:cNvPr id="9" name="Text 6"/>
          <p:cNvSpPr/>
          <p:nvPr/>
        </p:nvSpPr>
        <p:spPr>
          <a:xfrm>
            <a:off x="7360920" y="2240280"/>
            <a:ext cx="2971800" cy="658368"/>
          </a:xfrm>
          <a:prstGeom prst="rect">
            <a:avLst/>
          </a:prstGeom>
          <a:noFill/>
          <a:ln/>
        </p:spPr>
        <p:txBody>
          <a:bodyPr wrap="square" rtlCol="0" anchor="ctr"/>
          <a:lstStyle/>
          <a:p>
            <a:pPr indent="0" marL="0">
              <a:buNone/>
            </a:pPr>
            <a:r>
              <a:rPr lang="en-US" sz="1400" b="1" dirty="0">
                <a:solidFill>
                  <a:srgbClr val="1A2530"/>
                </a:solidFill>
                <a:latin typeface="Calibri" pitchFamily="34" charset="0"/>
                <a:ea typeface="Calibri" pitchFamily="34" charset="-122"/>
                <a:cs typeface="Calibri" pitchFamily="34" charset="-120"/>
              </a:rPr>
              <a:t>Con alarma</a:t>
            </a:r>
            <a:endParaRPr lang="en-US" sz="1400" dirty="0"/>
          </a:p>
        </p:txBody>
      </p:sp>
      <p:sp>
        <p:nvSpPr>
          <p:cNvPr id="10" name="Text 7"/>
          <p:cNvSpPr/>
          <p:nvPr/>
        </p:nvSpPr>
        <p:spPr>
          <a:xfrm>
            <a:off x="10149840" y="2240280"/>
            <a:ext cx="1188720" cy="658368"/>
          </a:xfrm>
          <a:prstGeom prst="rect">
            <a:avLst/>
          </a:prstGeom>
          <a:noFill/>
          <a:ln/>
        </p:spPr>
        <p:txBody>
          <a:bodyPr wrap="square" rtlCol="0" anchor="ctr"/>
          <a:lstStyle/>
          <a:p>
            <a:pPr algn="r" indent="0" marL="0">
              <a:buNone/>
            </a:pPr>
            <a:r>
              <a:rPr lang="en-US" sz="1900" b="1" dirty="0">
                <a:solidFill>
                  <a:srgbClr val="0B4F6C"/>
                </a:solidFill>
                <a:latin typeface="Cambria" pitchFamily="34" charset="0"/>
                <a:ea typeface="Cambria" pitchFamily="34" charset="-122"/>
                <a:cs typeface="Cambria" pitchFamily="34" charset="-120"/>
              </a:rPr>
              <a:t>70.1 %</a:t>
            </a:r>
            <a:endParaRPr lang="en-US" sz="1900" dirty="0"/>
          </a:p>
        </p:txBody>
      </p:sp>
      <p:sp>
        <p:nvSpPr>
          <p:cNvPr id="11" name="Shape 8"/>
          <p:cNvSpPr/>
          <p:nvPr/>
        </p:nvSpPr>
        <p:spPr>
          <a:xfrm>
            <a:off x="7132320" y="3044952"/>
            <a:ext cx="4434840" cy="658368"/>
          </a:xfrm>
          <a:prstGeom prst="roundRect">
            <a:avLst>
              <a:gd name="adj" fmla="val 9722"/>
            </a:avLst>
          </a:prstGeom>
          <a:solidFill>
            <a:srgbClr val="F3F6F7"/>
          </a:solidFill>
          <a:ln/>
        </p:spPr>
      </p:sp>
      <p:sp>
        <p:nvSpPr>
          <p:cNvPr id="12" name="Text 9"/>
          <p:cNvSpPr/>
          <p:nvPr/>
        </p:nvSpPr>
        <p:spPr>
          <a:xfrm>
            <a:off x="7360920" y="3044952"/>
            <a:ext cx="2971800" cy="658368"/>
          </a:xfrm>
          <a:prstGeom prst="rect">
            <a:avLst/>
          </a:prstGeom>
          <a:noFill/>
          <a:ln/>
        </p:spPr>
        <p:txBody>
          <a:bodyPr wrap="square" rtlCol="0" anchor="ctr"/>
          <a:lstStyle/>
          <a:p>
            <a:pPr indent="0" marL="0">
              <a:buNone/>
            </a:pPr>
            <a:r>
              <a:rPr lang="en-US" sz="1400" b="1" dirty="0">
                <a:solidFill>
                  <a:srgbClr val="1A2530"/>
                </a:solidFill>
                <a:latin typeface="Calibri" pitchFamily="34" charset="0"/>
                <a:ea typeface="Calibri" pitchFamily="34" charset="-122"/>
                <a:cs typeface="Calibri" pitchFamily="34" charset="-120"/>
              </a:rPr>
              <a:t>Sin alarma</a:t>
            </a:r>
            <a:endParaRPr lang="en-US" sz="1400" dirty="0"/>
          </a:p>
        </p:txBody>
      </p:sp>
      <p:sp>
        <p:nvSpPr>
          <p:cNvPr id="13" name="Text 10"/>
          <p:cNvSpPr/>
          <p:nvPr/>
        </p:nvSpPr>
        <p:spPr>
          <a:xfrm>
            <a:off x="10149840" y="3044952"/>
            <a:ext cx="1188720" cy="658368"/>
          </a:xfrm>
          <a:prstGeom prst="rect">
            <a:avLst/>
          </a:prstGeom>
          <a:noFill/>
          <a:ln/>
        </p:spPr>
        <p:txBody>
          <a:bodyPr wrap="square" rtlCol="0" anchor="ctr"/>
          <a:lstStyle/>
          <a:p>
            <a:pPr algn="r" indent="0" marL="0">
              <a:buNone/>
            </a:pPr>
            <a:r>
              <a:rPr lang="en-US" sz="1900" b="1" dirty="0">
                <a:solidFill>
                  <a:srgbClr val="C1272D"/>
                </a:solidFill>
                <a:latin typeface="Cambria" pitchFamily="34" charset="0"/>
                <a:ea typeface="Cambria" pitchFamily="34" charset="-122"/>
                <a:cs typeface="Cambria" pitchFamily="34" charset="-120"/>
              </a:rPr>
              <a:t>5.5 %</a:t>
            </a:r>
            <a:endParaRPr lang="en-US" sz="1900" dirty="0"/>
          </a:p>
        </p:txBody>
      </p:sp>
      <p:sp>
        <p:nvSpPr>
          <p:cNvPr id="14" name="Shape 11"/>
          <p:cNvSpPr/>
          <p:nvPr/>
        </p:nvSpPr>
        <p:spPr>
          <a:xfrm>
            <a:off x="7132320" y="3849624"/>
            <a:ext cx="4434840" cy="658368"/>
          </a:xfrm>
          <a:prstGeom prst="roundRect">
            <a:avLst>
              <a:gd name="adj" fmla="val 9722"/>
            </a:avLst>
          </a:prstGeom>
          <a:solidFill>
            <a:srgbClr val="F3F6F7"/>
          </a:solidFill>
          <a:ln/>
        </p:spPr>
      </p:sp>
      <p:sp>
        <p:nvSpPr>
          <p:cNvPr id="15" name="Text 12"/>
          <p:cNvSpPr/>
          <p:nvPr/>
        </p:nvSpPr>
        <p:spPr>
          <a:xfrm>
            <a:off x="7360920" y="3849624"/>
            <a:ext cx="2971800" cy="658368"/>
          </a:xfrm>
          <a:prstGeom prst="rect">
            <a:avLst/>
          </a:prstGeom>
          <a:noFill/>
          <a:ln/>
        </p:spPr>
        <p:txBody>
          <a:bodyPr wrap="square" rtlCol="0" anchor="ctr"/>
          <a:lstStyle/>
          <a:p>
            <a:pPr indent="0" marL="0">
              <a:buNone/>
            </a:pPr>
            <a:r>
              <a:rPr lang="en-US" sz="1400" b="1" dirty="0">
                <a:solidFill>
                  <a:srgbClr val="1A2530"/>
                </a:solidFill>
                <a:latin typeface="Calibri" pitchFamily="34" charset="0"/>
                <a:ea typeface="Calibri" pitchFamily="34" charset="-122"/>
                <a:cs typeface="Calibri" pitchFamily="34" charset="-120"/>
              </a:rPr>
              <a:t>Grave</a:t>
            </a:r>
            <a:endParaRPr lang="en-US" sz="1400" dirty="0"/>
          </a:p>
        </p:txBody>
      </p:sp>
      <p:sp>
        <p:nvSpPr>
          <p:cNvPr id="16" name="Text 13"/>
          <p:cNvSpPr/>
          <p:nvPr/>
        </p:nvSpPr>
        <p:spPr>
          <a:xfrm>
            <a:off x="10149840" y="3849624"/>
            <a:ext cx="1188720" cy="658368"/>
          </a:xfrm>
          <a:prstGeom prst="rect">
            <a:avLst/>
          </a:prstGeom>
          <a:noFill/>
          <a:ln/>
        </p:spPr>
        <p:txBody>
          <a:bodyPr wrap="square" rtlCol="0" anchor="ctr"/>
          <a:lstStyle/>
          <a:p>
            <a:pPr algn="r" indent="0" marL="0">
              <a:buNone/>
            </a:pPr>
            <a:r>
              <a:rPr lang="en-US" sz="1900" b="1" dirty="0">
                <a:solidFill>
                  <a:srgbClr val="C1272D"/>
                </a:solidFill>
                <a:latin typeface="Cambria" pitchFamily="34" charset="0"/>
                <a:ea typeface="Cambria" pitchFamily="34" charset="-122"/>
                <a:cs typeface="Cambria" pitchFamily="34" charset="-120"/>
              </a:rPr>
              <a:t>0 %</a:t>
            </a:r>
            <a:endParaRPr lang="en-US" sz="1900" dirty="0"/>
          </a:p>
        </p:txBody>
      </p:sp>
      <p:sp>
        <p:nvSpPr>
          <p:cNvPr id="17" name="Shape 14"/>
          <p:cNvSpPr/>
          <p:nvPr/>
        </p:nvSpPr>
        <p:spPr>
          <a:xfrm>
            <a:off x="7132320" y="4700016"/>
            <a:ext cx="4434840" cy="1417320"/>
          </a:xfrm>
          <a:prstGeom prst="roundRect">
            <a:avLst>
              <a:gd name="adj" fmla="val 5161"/>
            </a:avLst>
          </a:prstGeom>
          <a:solidFill>
            <a:srgbClr val="0B2942"/>
          </a:solidFill>
          <a:ln/>
        </p:spPr>
      </p:sp>
      <p:sp>
        <p:nvSpPr>
          <p:cNvPr id="18" name="Text 15"/>
          <p:cNvSpPr/>
          <p:nvPr/>
        </p:nvSpPr>
        <p:spPr>
          <a:xfrm>
            <a:off x="7406640" y="4700016"/>
            <a:ext cx="3886200" cy="1417320"/>
          </a:xfrm>
          <a:prstGeom prst="rect">
            <a:avLst/>
          </a:prstGeom>
          <a:noFill/>
          <a:ln/>
        </p:spPr>
        <p:txBody>
          <a:bodyPr wrap="square" rtlCol="0" anchor="ctr"/>
          <a:lstStyle/>
          <a:p>
            <a:pPr indent="0" marL="0">
              <a:lnSpc>
                <a:spcPct val="120000"/>
              </a:lnSpc>
              <a:buNone/>
            </a:pPr>
            <a:r>
              <a:rPr lang="en-US" sz="1600" b="1" dirty="0">
                <a:solidFill>
                  <a:srgbClr val="FFFFFF"/>
                </a:solidFill>
                <a:latin typeface="Cambria" pitchFamily="34" charset="0"/>
                <a:ea typeface="Cambria" pitchFamily="34" charset="-122"/>
                <a:cs typeface="Cambria" pitchFamily="34" charset="-120"/>
              </a:rPr>
              <a:t>No podemos evaluar equidad con datos faltantes.</a:t>
            </a:r>
            <a:endParaRPr lang="en-US" sz="1600" dirty="0"/>
          </a:p>
        </p:txBody>
      </p:sp>
      <p:sp>
        <p:nvSpPr>
          <p:cNvPr id="20" name="Text 16"/>
          <p:cNvSpPr/>
          <p:nvPr/>
        </p:nvSpPr>
        <p:spPr>
          <a:xfrm>
            <a:off x="11185855" y="6446520"/>
            <a:ext cx="82296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7 / 8</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2942"/>
        </a:solidFill>
      </p:bgPr>
    </p:bg>
    <p:spTree>
      <p:nvGrpSpPr>
        <p:cNvPr id="1" name=""/>
        <p:cNvGrpSpPr/>
        <p:nvPr/>
      </p:nvGrpSpPr>
      <p:grpSpPr>
        <a:xfrm>
          <a:off x="0" y="0"/>
          <a:ext cx="0" cy="0"/>
          <a:chOff x="0" y="0"/>
          <a:chExt cx="0" cy="0"/>
        </a:xfrm>
      </p:grpSpPr>
      <p:sp>
        <p:nvSpPr>
          <p:cNvPr id="2" name="Shape 0"/>
          <p:cNvSpPr/>
          <p:nvPr/>
        </p:nvSpPr>
        <p:spPr>
          <a:xfrm>
            <a:off x="-1280160" y="-1463040"/>
            <a:ext cx="4114800" cy="4114800"/>
          </a:xfrm>
          <a:prstGeom prst="ellipse">
            <a:avLst/>
          </a:prstGeom>
          <a:solidFill>
            <a:srgbClr val="0B4F6C">
              <a:alpha val="45000"/>
            </a:srgbClr>
          </a:solidFill>
          <a:ln/>
        </p:spPr>
      </p:sp>
      <p:sp>
        <p:nvSpPr>
          <p:cNvPr id="3" name="Text 1"/>
          <p:cNvSpPr/>
          <p:nvPr/>
        </p:nvSpPr>
        <p:spPr>
          <a:xfrm>
            <a:off x="822960" y="594360"/>
            <a:ext cx="5486400" cy="365760"/>
          </a:xfrm>
          <a:prstGeom prst="rect">
            <a:avLst/>
          </a:prstGeom>
          <a:noFill/>
          <a:ln/>
        </p:spPr>
        <p:txBody>
          <a:bodyPr wrap="square" rtlCol="0" anchor="ctr"/>
          <a:lstStyle/>
          <a:p>
            <a:pPr indent="0" marL="0">
              <a:buNone/>
            </a:pPr>
            <a:r>
              <a:rPr lang="en-US" sz="1300" b="1" spc="200" kern="0" dirty="0">
                <a:solidFill>
                  <a:srgbClr val="4F9DA6"/>
                </a:solidFill>
                <a:latin typeface="Calibri" pitchFamily="34" charset="0"/>
                <a:ea typeface="Calibri" pitchFamily="34" charset="-122"/>
                <a:cs typeface="Calibri" pitchFamily="34" charset="-120"/>
              </a:rPr>
              <a:t>CONCLUSIONES</a:t>
            </a:r>
            <a:endParaRPr lang="en-US" sz="1300" dirty="0"/>
          </a:p>
        </p:txBody>
      </p:sp>
      <p:sp>
        <p:nvSpPr>
          <p:cNvPr id="4" name="Shape 2"/>
          <p:cNvSpPr/>
          <p:nvPr/>
        </p:nvSpPr>
        <p:spPr>
          <a:xfrm>
            <a:off x="822960" y="1188720"/>
            <a:ext cx="502920" cy="502920"/>
          </a:xfrm>
          <a:prstGeom prst="ellipse">
            <a:avLst/>
          </a:prstGeom>
          <a:solidFill>
            <a:srgbClr val="0B4F6C"/>
          </a:solidFill>
          <a:ln w="12700">
            <a:solidFill>
              <a:srgbClr val="4F9DA6"/>
            </a:solidFill>
            <a:prstDash val="solid"/>
          </a:ln>
        </p:spPr>
      </p:sp>
      <p:sp>
        <p:nvSpPr>
          <p:cNvPr id="5" name="Text 3"/>
          <p:cNvSpPr/>
          <p:nvPr/>
        </p:nvSpPr>
        <p:spPr>
          <a:xfrm>
            <a:off x="822960" y="1188720"/>
            <a:ext cx="502920" cy="50292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6" name="Text 4"/>
          <p:cNvSpPr/>
          <p:nvPr/>
        </p:nvSpPr>
        <p:spPr>
          <a:xfrm>
            <a:off x="1554480" y="1143000"/>
            <a:ext cx="9509760" cy="914400"/>
          </a:xfrm>
          <a:prstGeom prst="rect">
            <a:avLst/>
          </a:prstGeom>
          <a:noFill/>
          <a:ln/>
        </p:spPr>
        <p:txBody>
          <a:bodyPr wrap="square" rtlCol="0" anchor="t"/>
          <a:lstStyle/>
          <a:p>
            <a:pPr indent="0" marL="0">
              <a:lnSpc>
                <a:spcPct val="130000"/>
              </a:lnSpc>
              <a:buNone/>
            </a:pPr>
            <a:r>
              <a:rPr lang="en-US" sz="1900" b="1" dirty="0">
                <a:solidFill>
                  <a:srgbClr val="FFFFFF"/>
                </a:solidFill>
                <a:latin typeface="Calibri" pitchFamily="34" charset="0"/>
                <a:ea typeface="Calibri" pitchFamily="34" charset="-122"/>
                <a:cs typeface="Calibri" pitchFamily="34" charset="-120"/>
              </a:rPr>
              <a:t>Un árbol interpretable para triage clínico</a:t>
            </a:r>
            <a:endParaRPr lang="en-US" sz="1900" dirty="0"/>
          </a:p>
          <a:p>
            <a:pPr indent="0" marL="0">
              <a:lnSpc>
                <a:spcPct val="130000"/>
              </a:lnSpc>
              <a:buNone/>
            </a:pPr>
            <a:r>
              <a:rPr lang="en-US" sz="1450" dirty="0">
                <a:solidFill>
                  <a:srgbClr val="B9CBDA"/>
                </a:solidFill>
                <a:latin typeface="Calibri" pitchFamily="34" charset="0"/>
                <a:ea typeface="Calibri" pitchFamily="34" charset="-122"/>
                <a:cs typeface="Calibri" pitchFamily="34" charset="-120"/>
              </a:rPr>
              <a:t>cada decisión se puede explicar y rastrear.</a:t>
            </a:r>
            <a:endParaRPr lang="en-US" sz="1900" dirty="0"/>
          </a:p>
        </p:txBody>
      </p:sp>
      <p:sp>
        <p:nvSpPr>
          <p:cNvPr id="7" name="Shape 5"/>
          <p:cNvSpPr/>
          <p:nvPr/>
        </p:nvSpPr>
        <p:spPr>
          <a:xfrm>
            <a:off x="822960" y="2423160"/>
            <a:ext cx="502920" cy="502920"/>
          </a:xfrm>
          <a:prstGeom prst="ellipse">
            <a:avLst/>
          </a:prstGeom>
          <a:solidFill>
            <a:srgbClr val="0B4F6C"/>
          </a:solidFill>
          <a:ln w="12700">
            <a:solidFill>
              <a:srgbClr val="4F9DA6"/>
            </a:solidFill>
            <a:prstDash val="solid"/>
          </a:ln>
        </p:spPr>
      </p:sp>
      <p:sp>
        <p:nvSpPr>
          <p:cNvPr id="8" name="Text 6"/>
          <p:cNvSpPr/>
          <p:nvPr/>
        </p:nvSpPr>
        <p:spPr>
          <a:xfrm>
            <a:off x="822960" y="2423160"/>
            <a:ext cx="502920" cy="50292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9" name="Text 7"/>
          <p:cNvSpPr/>
          <p:nvPr/>
        </p:nvSpPr>
        <p:spPr>
          <a:xfrm>
            <a:off x="1554480" y="2377440"/>
            <a:ext cx="9509760" cy="914400"/>
          </a:xfrm>
          <a:prstGeom prst="rect">
            <a:avLst/>
          </a:prstGeom>
          <a:noFill/>
          <a:ln/>
        </p:spPr>
        <p:txBody>
          <a:bodyPr wrap="square" rtlCol="0" anchor="t"/>
          <a:lstStyle/>
          <a:p>
            <a:pPr indent="0" marL="0">
              <a:lnSpc>
                <a:spcPct val="130000"/>
              </a:lnSpc>
              <a:buNone/>
            </a:pPr>
            <a:r>
              <a:rPr lang="en-US" sz="1900" b="1" dirty="0">
                <a:solidFill>
                  <a:srgbClr val="FFFFFF"/>
                </a:solidFill>
                <a:latin typeface="Calibri" pitchFamily="34" charset="0"/>
                <a:ea typeface="Calibri" pitchFamily="34" charset="-122"/>
                <a:cs typeface="Calibri" pitchFamily="34" charset="-120"/>
              </a:rPr>
              <a:t>La clase Grave es intrínsecamente difícil</a:t>
            </a:r>
            <a:endParaRPr lang="en-US" sz="1900" dirty="0"/>
          </a:p>
          <a:p>
            <a:pPr indent="0" marL="0">
              <a:lnSpc>
                <a:spcPct val="130000"/>
              </a:lnSpc>
              <a:buNone/>
            </a:pPr>
            <a:r>
              <a:rPr lang="en-US" sz="1450" dirty="0">
                <a:solidFill>
                  <a:srgbClr val="B9CBDA"/>
                </a:solidFill>
                <a:latin typeface="Calibri" pitchFamily="34" charset="0"/>
                <a:ea typeface="Calibri" pitchFamily="34" charset="-122"/>
                <a:cs typeface="Calibri" pitchFamily="34" charset="-120"/>
              </a:rPr>
              <a:t>apenas el 0.3 % de los casos históricos.</a:t>
            </a:r>
            <a:endParaRPr lang="en-US" sz="1900" dirty="0"/>
          </a:p>
        </p:txBody>
      </p:sp>
      <p:sp>
        <p:nvSpPr>
          <p:cNvPr id="10" name="Shape 8"/>
          <p:cNvSpPr/>
          <p:nvPr/>
        </p:nvSpPr>
        <p:spPr>
          <a:xfrm>
            <a:off x="822960" y="3657600"/>
            <a:ext cx="502920" cy="502920"/>
          </a:xfrm>
          <a:prstGeom prst="ellipse">
            <a:avLst/>
          </a:prstGeom>
          <a:solidFill>
            <a:srgbClr val="0B4F6C"/>
          </a:solidFill>
          <a:ln w="12700">
            <a:solidFill>
              <a:srgbClr val="4F9DA6"/>
            </a:solidFill>
            <a:prstDash val="solid"/>
          </a:ln>
        </p:spPr>
      </p:sp>
      <p:sp>
        <p:nvSpPr>
          <p:cNvPr id="11" name="Text 9"/>
          <p:cNvSpPr/>
          <p:nvPr/>
        </p:nvSpPr>
        <p:spPr>
          <a:xfrm>
            <a:off x="822960" y="3657600"/>
            <a:ext cx="502920" cy="50292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2" name="Text 10"/>
          <p:cNvSpPr/>
          <p:nvPr/>
        </p:nvSpPr>
        <p:spPr>
          <a:xfrm>
            <a:off x="1554480" y="3611880"/>
            <a:ext cx="9509760" cy="914400"/>
          </a:xfrm>
          <a:prstGeom prst="rect">
            <a:avLst/>
          </a:prstGeom>
          <a:noFill/>
          <a:ln/>
        </p:spPr>
        <p:txBody>
          <a:bodyPr wrap="square" rtlCol="0" anchor="t"/>
          <a:lstStyle/>
          <a:p>
            <a:pPr indent="0" marL="0">
              <a:lnSpc>
                <a:spcPct val="130000"/>
              </a:lnSpc>
              <a:buNone/>
            </a:pPr>
            <a:r>
              <a:rPr lang="en-US" sz="1900" b="1" dirty="0">
                <a:solidFill>
                  <a:srgbClr val="FFFFFF"/>
                </a:solidFill>
                <a:latin typeface="Calibri" pitchFamily="34" charset="0"/>
                <a:ea typeface="Calibri" pitchFamily="34" charset="-122"/>
                <a:cs typeface="Calibri" pitchFamily="34" charset="-120"/>
              </a:rPr>
              <a:t>El sistema de vigilancia tiene grietas</a:t>
            </a:r>
            <a:endParaRPr lang="en-US" sz="1900" dirty="0"/>
          </a:p>
          <a:p>
            <a:pPr indent="0" marL="0">
              <a:lnSpc>
                <a:spcPct val="130000"/>
              </a:lnSpc>
              <a:buNone/>
            </a:pPr>
            <a:r>
              <a:rPr lang="en-US" sz="1450" dirty="0">
                <a:solidFill>
                  <a:srgbClr val="B9CBDA"/>
                </a:solidFill>
                <a:latin typeface="Calibri" pitchFamily="34" charset="0"/>
                <a:ea typeface="Calibri" pitchFamily="34" charset="-122"/>
                <a:cs typeface="Calibri" pitchFamily="34" charset="-120"/>
              </a:rPr>
              <a:t>el subreporte del estrato impide evaluar equidad real.</a:t>
            </a:r>
            <a:endParaRPr lang="en-US" sz="1900" dirty="0"/>
          </a:p>
        </p:txBody>
      </p:sp>
      <p:sp>
        <p:nvSpPr>
          <p:cNvPr id="13" name="Shape 11"/>
          <p:cNvSpPr/>
          <p:nvPr/>
        </p:nvSpPr>
        <p:spPr>
          <a:xfrm>
            <a:off x="1554480" y="4937760"/>
            <a:ext cx="9052560" cy="0"/>
          </a:xfrm>
          <a:prstGeom prst="line">
            <a:avLst/>
          </a:prstGeom>
          <a:noFill/>
          <a:ln w="12700">
            <a:solidFill>
              <a:srgbClr val="4F9DA6">
                <a:alpha val="60000"/>
              </a:srgbClr>
            </a:solidFill>
            <a:prstDash val="solid"/>
          </a:ln>
        </p:spPr>
      </p:sp>
      <p:sp>
        <p:nvSpPr>
          <p:cNvPr id="14" name="Text 12"/>
          <p:cNvSpPr/>
          <p:nvPr/>
        </p:nvSpPr>
        <p:spPr>
          <a:xfrm>
            <a:off x="822960" y="5212080"/>
            <a:ext cx="10515600" cy="914400"/>
          </a:xfrm>
          <a:prstGeom prst="rect">
            <a:avLst/>
          </a:prstGeom>
          <a:noFill/>
          <a:ln/>
        </p:spPr>
        <p:txBody>
          <a:bodyPr wrap="square" rtlCol="0" anchor="ctr"/>
          <a:lstStyle/>
          <a:p>
            <a:pPr algn="ctr" indent="0" marL="0">
              <a:buNone/>
            </a:pPr>
            <a:r>
              <a:rPr lang="en-US" sz="2000" b="1" i="1" dirty="0">
                <a:solidFill>
                  <a:srgbClr val="FFFFFF"/>
                </a:solidFill>
                <a:latin typeface="Cambria" pitchFamily="34" charset="0"/>
                <a:ea typeface="Cambria" pitchFamily="34" charset="-122"/>
                <a:cs typeface="Cambria" pitchFamily="34" charset="-120"/>
              </a:rPr>
              <a:t>“El modelo no reemplaza al médico, pero puede ser un soporte transparente.”</a:t>
            </a:r>
            <a:endParaRPr lang="en-US" sz="2000" dirty="0"/>
          </a:p>
        </p:txBody>
      </p:sp>
      <p:sp>
        <p:nvSpPr>
          <p:cNvPr id="16" name="Text 13"/>
          <p:cNvSpPr/>
          <p:nvPr/>
        </p:nvSpPr>
        <p:spPr>
          <a:xfrm>
            <a:off x="11185855" y="6446520"/>
            <a:ext cx="822960" cy="274320"/>
          </a:xfrm>
          <a:prstGeom prst="rect">
            <a:avLst/>
          </a:prstGeom>
          <a:noFill/>
          <a:ln/>
        </p:spPr>
        <p:txBody>
          <a:bodyPr wrap="square" rtlCol="0" anchor="ctr"/>
          <a:lstStyle/>
          <a:p>
            <a:pPr algn="r" indent="0" marL="0">
              <a:buNone/>
            </a:pPr>
            <a:r>
              <a:rPr lang="en-US" sz="1000" dirty="0">
                <a:solidFill>
                  <a:srgbClr val="9FB3C8"/>
                </a:solidFill>
                <a:latin typeface="Calibri" pitchFamily="34" charset="0"/>
                <a:ea typeface="Calibri" pitchFamily="34" charset="-122"/>
                <a:cs typeface="Calibri" pitchFamily="34" charset="-120"/>
              </a:rPr>
              <a:t>8 / 8</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2026-08-05T19:56:44Z</dcterms:created>
  <dcterms:modified xsi:type="dcterms:W3CDTF">2026-08-05T19:56:44Z</dcterms:modified>
</cp:coreProperties>
</file>